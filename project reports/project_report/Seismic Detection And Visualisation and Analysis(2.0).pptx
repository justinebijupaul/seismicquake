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68" r:id="rId4"/>
    <p:sldId id="266" r:id="rId5"/>
    <p:sldId id="267" r:id="rId6"/>
    <p:sldId id="265" r:id="rId7"/>
    <p:sldId id="264" r:id="rId8"/>
    <p:sldId id="263" r:id="rId9"/>
    <p:sldId id="262" r:id="rId10"/>
    <p:sldId id="261" r:id="rId11"/>
    <p:sldId id="278" r:id="rId12"/>
    <p:sldId id="270" r:id="rId13"/>
    <p:sldId id="280" r:id="rId14"/>
    <p:sldId id="275" r:id="rId15"/>
    <p:sldId id="279" r:id="rId16"/>
    <p:sldId id="286" r:id="rId17"/>
    <p:sldId id="290" r:id="rId18"/>
    <p:sldId id="288" r:id="rId19"/>
    <p:sldId id="291" r:id="rId20"/>
    <p:sldId id="281" r:id="rId21"/>
    <p:sldId id="274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1" autoAdjust="0"/>
    <p:restoredTop sz="94660"/>
  </p:normalViewPr>
  <p:slideViewPr>
    <p:cSldViewPr snapToGrid="0">
      <p:cViewPr varScale="1">
        <p:scale>
          <a:sx n="53" d="100"/>
          <a:sy n="53" d="100"/>
        </p:scale>
        <p:origin x="18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5" Type="http://schemas.openxmlformats.org/officeDocument/2006/relationships/tableStyles" Target="tableStyles.xml"/><Relationship Id="rId24" Type="http://schemas.openxmlformats.org/officeDocument/2006/relationships/viewProps" Target="viewProps.xml"/><Relationship Id="rId23" Type="http://schemas.openxmlformats.org/officeDocument/2006/relationships/presProps" Target="presProps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534353"/>
            <a:ext cx="9144000" cy="2387600"/>
          </a:xfrm>
        </p:spPr>
        <p:txBody>
          <a:bodyPr/>
          <a:lstStyle/>
          <a:p>
            <a:r>
              <a:rPr lang="en-US" sz="4800" b="1" dirty="0">
                <a:latin typeface="Times New Roman" panose="02020603050405020304" charset="0"/>
                <a:cs typeface="Times New Roman" panose="02020603050405020304" charset="0"/>
              </a:rPr>
              <a:t>Seismic Detection And Visualisation and Analysis</a:t>
            </a:r>
            <a:endParaRPr lang="en-US" sz="4800" b="1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355"/>
            <a:ext cx="9144000" cy="2146300"/>
          </a:xfrm>
        </p:spPr>
        <p:txBody>
          <a:bodyPr>
            <a:normAutofit fontScale="90000"/>
          </a:bodyPr>
          <a:lstStyle/>
          <a:p>
            <a:pPr algn="l"/>
            <a:r>
              <a:rPr lang="en-US">
                <a:sym typeface="+mn-ea"/>
              </a:rPr>
              <a:t>GUIDED BY:                                                                                PREPARED BY:</a:t>
            </a:r>
            <a:endParaRPr lang="en-US"/>
          </a:p>
          <a:p>
            <a:pPr algn="l"/>
            <a:r>
              <a:rPr lang="en-US">
                <a:sym typeface="+mn-ea"/>
              </a:rPr>
              <a:t>PROF . JOSMY GEORGE                                                           JUSTINE BIJU PAUL</a:t>
            </a:r>
            <a:endParaRPr lang="en-US"/>
          </a:p>
          <a:p>
            <a:pPr algn="l"/>
            <a:r>
              <a:rPr lang="en-US">
                <a:sym typeface="+mn-ea"/>
              </a:rPr>
              <a:t>DEPARTMENT OF COMPUTER SCIENCE AND                      BIJIN BINOY</a:t>
            </a:r>
            <a:endParaRPr lang="en-US"/>
          </a:p>
          <a:p>
            <a:pPr algn="l"/>
            <a:r>
              <a:rPr lang="en-US">
                <a:sym typeface="+mn-ea"/>
              </a:rPr>
              <a:t>ENGINEERING                                                                           NISSA ANN SAJI </a:t>
            </a:r>
            <a:endParaRPr lang="en-US"/>
          </a:p>
          <a:p>
            <a:pPr algn="l"/>
            <a:r>
              <a:rPr lang="en-US">
                <a:sym typeface="+mn-ea"/>
              </a:rPr>
              <a:t>                                                                                                     ALLAN SHIBU KOSHY</a:t>
            </a:r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GB"/>
              <a:t>CONTENTS</a:t>
            </a:r>
            <a:endParaRPr lang="en-US" alt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en-GB"/>
              <a:t>General Introduction</a:t>
            </a:r>
            <a:endParaRPr lang="en-US" altLang="en-GB"/>
          </a:p>
          <a:p>
            <a:r>
              <a:rPr lang="en-US" altLang="en-GB"/>
              <a:t>Literature Survey</a:t>
            </a:r>
            <a:endParaRPr lang="en-US" altLang="en-GB"/>
          </a:p>
          <a:p>
            <a:pPr marL="0" indent="0">
              <a:buNone/>
            </a:pPr>
            <a:r>
              <a:rPr lang="en-US" altLang="en-GB"/>
              <a:t>         &gt; Paper 1: General Overview,Limitations,Adavantage</a:t>
            </a:r>
            <a:endParaRPr lang="en-US" altLang="en-GB"/>
          </a:p>
          <a:p>
            <a:pPr marL="0" indent="0">
              <a:buNone/>
            </a:pPr>
            <a:r>
              <a:rPr lang="en-US" altLang="en-GB"/>
              <a:t>         &gt; </a:t>
            </a:r>
            <a:r>
              <a:rPr lang="en-US" altLang="en-GB">
                <a:sym typeface="+mn-ea"/>
              </a:rPr>
              <a:t>Paper 2: General Overview,Limitations,Adavantage</a:t>
            </a:r>
            <a:endParaRPr lang="en-US" altLang="en-GB">
              <a:sym typeface="+mn-ea"/>
            </a:endParaRPr>
          </a:p>
          <a:p>
            <a:pPr marL="0" indent="0">
              <a:buNone/>
            </a:pPr>
            <a:r>
              <a:rPr lang="en-US" altLang="en-GB">
                <a:sym typeface="+mn-ea"/>
              </a:rPr>
              <a:t>         &gt; Paper 3: General Overview,Limitations,Adavantage</a:t>
            </a:r>
            <a:endParaRPr lang="en-US" altLang="en-GB">
              <a:sym typeface="+mn-ea"/>
            </a:endParaRPr>
          </a:p>
          <a:p>
            <a:pPr marL="0" indent="0">
              <a:buNone/>
            </a:pPr>
            <a:r>
              <a:rPr lang="en-US" altLang="en-GB">
                <a:sym typeface="+mn-ea"/>
              </a:rPr>
              <a:t>         &gt; Paper 4: General Overview,Limitations,Adavantage</a:t>
            </a:r>
            <a:endParaRPr lang="en-US" altLang="en-GB">
              <a:sym typeface="+mn-ea"/>
            </a:endParaRPr>
          </a:p>
          <a:p>
            <a:pPr marL="0" indent="0">
              <a:buNone/>
            </a:pPr>
            <a:r>
              <a:rPr lang="en-US" altLang="en-GB">
                <a:sym typeface="+mn-ea"/>
              </a:rPr>
              <a:t>         &gt; Paper 5: General Overview,Limitations,Adavantage</a:t>
            </a:r>
            <a:endParaRPr lang="en-US" altLang="en-GB">
              <a:sym typeface="+mn-ea"/>
            </a:endParaRPr>
          </a:p>
          <a:p>
            <a:r>
              <a:rPr lang="en-US" altLang="en-GB">
                <a:sym typeface="+mn-ea"/>
              </a:rPr>
              <a:t>Conclusion</a:t>
            </a:r>
            <a:endParaRPr lang="en-US" altLang="en-GB"/>
          </a:p>
          <a:p>
            <a:pPr marL="0" indent="0">
              <a:buNone/>
            </a:pPr>
            <a:endParaRPr lang="en-US" altLang="en-GB"/>
          </a:p>
          <a:p>
            <a:pPr marL="0" indent="0">
              <a:buNone/>
            </a:pPr>
            <a:endParaRPr lang="en-US" altLang="en-GB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GB"/>
              <a:t>General Introduction</a:t>
            </a:r>
            <a:endParaRPr lang="en-US" alt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p>
            <a:pPr algn="just"/>
            <a:endParaRPr lang="en-US" altLang="en-GB" sz="2400"/>
          </a:p>
          <a:p>
            <a:pPr algn="just"/>
            <a:r>
              <a:rPr lang="en-US" altLang="en-GB" sz="2400"/>
              <a:t>Earthquake detection and warning systems are designed to identify early seismic signals, assess risk, and quickly alert people and infrastructure in danger.</a:t>
            </a:r>
            <a:endParaRPr lang="en-US" altLang="en-GB" sz="2400"/>
          </a:p>
          <a:p>
            <a:pPr algn="just"/>
            <a:endParaRPr lang="en-US" altLang="en-GB" sz="2400"/>
          </a:p>
          <a:p>
            <a:pPr algn="just"/>
            <a:r>
              <a:rPr lang="en-US" altLang="en-GB" sz="2400"/>
              <a:t>These systems use real-time data from sensor networks, signal processing, and sometimes machine learning for rapid earthquake recognition.</a:t>
            </a:r>
            <a:endParaRPr lang="en-US" altLang="en-GB" sz="2400"/>
          </a:p>
          <a:p>
            <a:pPr marL="0" indent="0" algn="just">
              <a:buNone/>
            </a:pPr>
            <a:endParaRPr lang="en-US" altLang="en-GB" sz="2400"/>
          </a:p>
          <a:p>
            <a:pPr algn="just"/>
            <a:r>
              <a:rPr lang="en-US" altLang="en-GB" sz="2400"/>
              <a:t>The goal is to provide advance warning—seconds to minutes before shaking—to enable protective actions that reduce injury and damage.</a:t>
            </a:r>
            <a:endParaRPr lang="en-US" altLang="en-GB" sz="24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GB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05510" y="2484755"/>
            <a:ext cx="10515600" cy="944880"/>
          </a:xfrm>
        </p:spPr>
        <p:txBody>
          <a:bodyPr>
            <a:normAutofit fontScale="90000"/>
          </a:bodyPr>
          <a:p>
            <a:pPr marL="0" indent="0">
              <a:buNone/>
            </a:pPr>
            <a:r>
              <a:rPr lang="en-US" altLang="en-GB" sz="6600">
                <a:latin typeface="Times New Roman" panose="02020603050405020304" charset="0"/>
                <a:cs typeface="Times New Roman" panose="02020603050405020304" charset="0"/>
              </a:rPr>
              <a:t>      LITERATURE SURVEY</a:t>
            </a:r>
            <a:endParaRPr lang="en-US" altLang="en-GB" sz="6600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p>
            <a:r>
              <a:rPr lang="en-US" altLang="en-GB" sz="3200"/>
              <a:t>Paper 1: Earthquake Early Warning and Realtime Earthquake           Disaster Prevention </a:t>
            </a:r>
            <a:endParaRPr lang="en-US" altLang="en-GB" sz="320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2265" y="1863090"/>
            <a:ext cx="11011535" cy="4314190"/>
          </a:xfrm>
        </p:spPr>
        <p:txBody>
          <a:bodyPr>
            <a:normAutofit/>
          </a:bodyPr>
          <a:p>
            <a:pPr algn="just"/>
            <a:r>
              <a:rPr lang="en-US" altLang="en-GB" sz="2300" b="1" u="sng"/>
              <a:t>Development and Concept of EEW Systems </a:t>
            </a:r>
            <a:r>
              <a:rPr lang="en-US" altLang="en-GB" sz="2300" b="1"/>
              <a:t>: </a:t>
            </a:r>
            <a:r>
              <a:rPr lang="en-US" altLang="en-GB" sz="2300"/>
              <a:t>Covers Japan’s UrEDAS and FREQL systems for real-time, fast earthquake alerts.</a:t>
            </a:r>
            <a:endParaRPr lang="en-US" altLang="en-GB" sz="2300"/>
          </a:p>
          <a:p>
            <a:pPr algn="just"/>
            <a:endParaRPr lang="en-US" altLang="en-GB" sz="2300"/>
          </a:p>
          <a:p>
            <a:pPr algn="just"/>
            <a:r>
              <a:rPr lang="en-US" altLang="en-GB" sz="2300" b="1" u="sng"/>
              <a:t>Technical Features and Applications: </a:t>
            </a:r>
            <a:r>
              <a:rPr lang="en-US" altLang="en-GB" sz="2300"/>
              <a:t>Uses P-wave data from single stations to estimate magnitude and location quickly.</a:t>
            </a:r>
            <a:endParaRPr lang="en-US" altLang="en-GB" sz="2300"/>
          </a:p>
          <a:p>
            <a:pPr marL="0" indent="0" algn="just">
              <a:buNone/>
            </a:pPr>
            <a:endParaRPr lang="en-US" altLang="en-GB" sz="2300"/>
          </a:p>
          <a:p>
            <a:pPr algn="just"/>
            <a:r>
              <a:rPr lang="en-US" altLang="en-GB" sz="2300" b="1" u="sng"/>
              <a:t>Simulation and Real-World Performance: </a:t>
            </a:r>
            <a:r>
              <a:rPr lang="en-US" altLang="en-GB" sz="2300"/>
              <a:t>Simulations, including the 2004 Niigataken-Chuetsu quake, show FREQL provides vital seconds of warning and beats centralized systems.</a:t>
            </a:r>
            <a:endParaRPr lang="en-US" altLang="en-GB" sz="2300"/>
          </a:p>
          <a:p>
            <a:pPr algn="just"/>
            <a:endParaRPr lang="en-US" altLang="en-GB" sz="2300"/>
          </a:p>
        </p:txBody>
      </p:sp>
      <p:sp>
        <p:nvSpPr>
          <p:cNvPr id="4" name="Text Box 3"/>
          <p:cNvSpPr txBox="1"/>
          <p:nvPr/>
        </p:nvSpPr>
        <p:spPr>
          <a:xfrm>
            <a:off x="896620" y="1456055"/>
            <a:ext cx="9818370" cy="40640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en-GB"/>
              <a:t>  Author : Yutaka Nakamura, World Conference on Earthquake Engineering (WCEE), 2020,Springer</a:t>
            </a:r>
            <a:endParaRPr lang="en-US" altLang="en-GB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06730"/>
          </a:xfrm>
        </p:spPr>
        <p:txBody>
          <a:bodyPr>
            <a:normAutofit fontScale="90000"/>
          </a:bodyPr>
          <a:p>
            <a:endParaRPr lang="en-GB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304290"/>
            <a:ext cx="10515600" cy="4911725"/>
          </a:xfrm>
        </p:spPr>
        <p:txBody>
          <a:bodyPr/>
          <a:p>
            <a:pPr>
              <a:buFont typeface="Wingdings" panose="05000000000000000000" charset="0"/>
              <a:buChar char="Ø"/>
            </a:pPr>
            <a:r>
              <a:rPr lang="en-US" altLang="en-GB" b="1" u="sng"/>
              <a:t>Limitations</a:t>
            </a:r>
            <a:r>
              <a:rPr lang="en-US" altLang="en-GB"/>
              <a:t> </a:t>
            </a:r>
            <a:endParaRPr lang="en-US" altLang="en-GB"/>
          </a:p>
          <a:p>
            <a:r>
              <a:rPr lang="en-US" altLang="en-GB"/>
              <a:t>Warning Time Near Epicenter</a:t>
            </a:r>
            <a:endParaRPr lang="en-US" altLang="en-GB"/>
          </a:p>
          <a:p>
            <a:r>
              <a:rPr lang="en-US" altLang="en-GB"/>
              <a:t>Dependency on Localized Systems</a:t>
            </a:r>
            <a:endParaRPr lang="en-US" altLang="en-GB"/>
          </a:p>
          <a:p>
            <a:r>
              <a:rPr lang="en-US" altLang="en-GB"/>
              <a:t>Limitations in Structural and Societal Mitigation</a:t>
            </a:r>
            <a:endParaRPr lang="en-US" altLang="en-GB"/>
          </a:p>
          <a:p>
            <a:pPr marL="0" indent="0">
              <a:buFont typeface="Wingdings" panose="05000000000000000000" charset="0"/>
              <a:buNone/>
            </a:pPr>
            <a:endParaRPr lang="en-US" altLang="en-GB"/>
          </a:p>
          <a:p>
            <a:pPr>
              <a:buFont typeface="Wingdings" panose="05000000000000000000" charset="0"/>
              <a:buChar char="Ø"/>
            </a:pPr>
            <a:r>
              <a:rPr lang="en-US" altLang="en-GB" b="1" u="sng"/>
              <a:t>Advantages compared To Our Project</a:t>
            </a:r>
            <a:endParaRPr lang="en-US" altLang="en-GB" b="1" u="sng"/>
          </a:p>
          <a:p>
            <a:r>
              <a:rPr lang="en-US" altLang="en-GB"/>
              <a:t>Warning before reaching Epicentre.</a:t>
            </a:r>
            <a:endParaRPr lang="en-US" altLang="en-GB"/>
          </a:p>
          <a:p>
            <a:r>
              <a:rPr lang="en-US" altLang="en-GB"/>
              <a:t>Not dependent on localized systems.</a:t>
            </a:r>
            <a:endParaRPr lang="en-US" altLang="en-GB"/>
          </a:p>
          <a:p>
            <a:r>
              <a:rPr lang="en-US" altLang="en-GB"/>
              <a:t>Looks at the area affected.</a:t>
            </a:r>
            <a:endParaRPr lang="en-US" altLang="en-GB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191260"/>
          </a:xfrm>
        </p:spPr>
        <p:txBody>
          <a:bodyPr/>
          <a:p>
            <a:r>
              <a:rPr lang="en-US" altLang="en-GB" sz="2800">
                <a:sym typeface="+mn-ea"/>
              </a:rPr>
              <a:t>Paper 2: Stable operation process of earthquake early warning system based on machine learning: trial test and management perspective</a:t>
            </a:r>
            <a:endParaRPr lang="en-US" altLang="en-GB" sz="2800">
              <a:sym typeface="+mn-ea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2176780"/>
            <a:ext cx="10515600" cy="4000500"/>
          </a:xfrm>
        </p:spPr>
        <p:txBody>
          <a:bodyPr>
            <a:normAutofit/>
          </a:bodyPr>
          <a:p>
            <a:pPr algn="just"/>
            <a:r>
              <a:rPr lang="en-US" altLang="en-GB" sz="2400" b="1" u="sng"/>
              <a:t>Hybrid Earthquake Early Warning System Design: </a:t>
            </a:r>
            <a:r>
              <a:rPr lang="en-US" altLang="en-GB" sz="2400"/>
              <a:t>KMA’s hybrid system combines machine learning with the 1+α method for faster, on-site alerts.</a:t>
            </a:r>
            <a:endParaRPr lang="en-US" altLang="en-GB" sz="2400"/>
          </a:p>
          <a:p>
            <a:pPr marL="0" indent="0" algn="just">
              <a:buNone/>
            </a:pPr>
            <a:endParaRPr lang="en-US" altLang="en-GB" sz="2400"/>
          </a:p>
          <a:p>
            <a:pPr algn="just"/>
            <a:r>
              <a:rPr lang="en-US" altLang="en-GB" sz="2400" b="1" u="sng"/>
              <a:t>Machine Learning Implementation for P-wave Identification: </a:t>
            </a:r>
            <a:r>
              <a:rPr lang="en-US" altLang="en-GB" sz="2400"/>
              <a:t>CNN-based filtering detects P-waves within 2 seconds</a:t>
            </a:r>
            <a:endParaRPr lang="en-US" altLang="en-GB" sz="2400"/>
          </a:p>
          <a:p>
            <a:pPr marL="0" indent="0" algn="just">
              <a:buNone/>
            </a:pPr>
            <a:endParaRPr lang="en-US" altLang="en-GB" sz="2400"/>
          </a:p>
          <a:p>
            <a:pPr algn="just"/>
            <a:r>
              <a:rPr lang="en-US" altLang="en-GB" sz="2400" b="1" u="sng"/>
              <a:t>Trial Operation and Performance Evaluation: </a:t>
            </a:r>
            <a:r>
              <a:rPr lang="en-US" altLang="en-GB" sz="2400"/>
              <a:t>Trials on 22 earthquakes showed faster, more accurate alerts with fewer false alarms than conventional systems.</a:t>
            </a:r>
            <a:endParaRPr lang="en-US" altLang="en-GB" sz="2400"/>
          </a:p>
        </p:txBody>
      </p:sp>
      <p:sp>
        <p:nvSpPr>
          <p:cNvPr id="4" name="Text Box 3"/>
          <p:cNvSpPr txBox="1"/>
          <p:nvPr/>
        </p:nvSpPr>
        <p:spPr>
          <a:xfrm>
            <a:off x="1031875" y="1687195"/>
            <a:ext cx="10079355" cy="35877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en-GB"/>
              <a:t> Authors: Euna Park, Seongwon Hong, Published 2023, Frontiers in Earth and Science</a:t>
            </a:r>
            <a:endParaRPr lang="en-US" altLang="en-GB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477520"/>
          </a:xfrm>
        </p:spPr>
        <p:txBody>
          <a:bodyPr>
            <a:normAutofit fontScale="90000"/>
          </a:bodyPr>
          <a:p>
            <a:endParaRPr lang="en-GB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054735"/>
            <a:ext cx="10515600" cy="5122545"/>
          </a:xfrm>
        </p:spPr>
        <p:txBody>
          <a:bodyPr/>
          <a:p>
            <a:pPr>
              <a:buFont typeface="Wingdings" panose="05000000000000000000" charset="0"/>
              <a:buChar char="Ø"/>
            </a:pPr>
            <a:r>
              <a:rPr lang="en-US" altLang="en-GB" b="1" u="sng"/>
              <a:t> Limitations</a:t>
            </a:r>
            <a:endParaRPr lang="en-US" altLang="en-GB" b="1" u="sng"/>
          </a:p>
          <a:p>
            <a:r>
              <a:rPr lang="en-US" altLang="en-GB"/>
              <a:t>Need for Dense Sensor Networks</a:t>
            </a:r>
            <a:endParaRPr lang="en-US" altLang="en-GB"/>
          </a:p>
          <a:p>
            <a:r>
              <a:rPr lang="en-US" altLang="en-GB"/>
              <a:t>Minimum Data Collection Time for ML Detection</a:t>
            </a:r>
            <a:endParaRPr lang="en-US" altLang="en-GB"/>
          </a:p>
          <a:p>
            <a:r>
              <a:rPr lang="en-US" altLang="en-GB"/>
              <a:t>Limited Public Deployment</a:t>
            </a:r>
            <a:endParaRPr lang="en-US" altLang="en-GB"/>
          </a:p>
          <a:p>
            <a:endParaRPr lang="en-US" altLang="en-GB"/>
          </a:p>
          <a:p>
            <a:pPr>
              <a:buFont typeface="Wingdings" panose="05000000000000000000" charset="0"/>
              <a:buChar char="Ø"/>
            </a:pPr>
            <a:r>
              <a:rPr lang="en-US" altLang="en-GB" b="1" u="sng"/>
              <a:t>Advantages Compared to our project</a:t>
            </a:r>
            <a:endParaRPr lang="en-US" altLang="en-GB" b="1" u="sng"/>
          </a:p>
          <a:p>
            <a:r>
              <a:rPr lang="en-US" altLang="en-GB"/>
              <a:t>No need for networks.</a:t>
            </a:r>
            <a:endParaRPr lang="en-US" altLang="en-GB"/>
          </a:p>
          <a:p>
            <a:r>
              <a:rPr lang="en-US" altLang="en-GB"/>
              <a:t>Customized Data.</a:t>
            </a:r>
            <a:endParaRPr lang="en-US" altLang="en-GB"/>
          </a:p>
          <a:p>
            <a:r>
              <a:rPr lang="en-US" altLang="en-GB"/>
              <a:t>No public deployment.</a:t>
            </a:r>
            <a:endParaRPr lang="en-US" altLang="en-GB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51510"/>
          </a:xfrm>
        </p:spPr>
        <p:txBody>
          <a:bodyPr>
            <a:noAutofit/>
          </a:bodyPr>
          <a:p>
            <a:r>
              <a:rPr lang="en-US" altLang="en-GB" sz="2800">
                <a:sym typeface="+mn-ea"/>
              </a:rPr>
              <a:t>Paper 3: A Review on the Development of Earthquake Warning System</a:t>
            </a:r>
            <a:br>
              <a:rPr lang="en-US" altLang="en-GB" sz="2800">
                <a:sym typeface="+mn-ea"/>
              </a:rPr>
            </a:br>
            <a:r>
              <a:rPr lang="en-US" altLang="en-GB" sz="2800">
                <a:sym typeface="+mn-ea"/>
              </a:rPr>
              <a:t>Using Low-Cost Sensors in Taiwan</a:t>
            </a:r>
            <a:endParaRPr lang="en-US" altLang="en-GB" sz="2800">
              <a:sym typeface="+mn-ea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97380"/>
            <a:ext cx="10515600" cy="4279900"/>
          </a:xfrm>
        </p:spPr>
        <p:txBody>
          <a:bodyPr/>
          <a:p>
            <a:pPr algn="just"/>
            <a:r>
              <a:rPr lang="en-US" altLang="en-GB" sz="2400" b="1" u="sng"/>
              <a:t>Deployment of P-Alert</a:t>
            </a:r>
            <a:r>
              <a:rPr lang="en-US" altLang="en-GB" sz="2400"/>
              <a:t>: Taiwan’s EEW uses low-cost MEMS-based P-Alert sensors for fast on-site warnings and detailed shakemaps.</a:t>
            </a:r>
            <a:endParaRPr lang="en-US" altLang="en-GB" sz="2400"/>
          </a:p>
          <a:p>
            <a:pPr algn="just"/>
            <a:endParaRPr lang="en-US" altLang="en-GB" sz="2400"/>
          </a:p>
          <a:p>
            <a:pPr algn="just"/>
            <a:r>
              <a:rPr lang="en-US" altLang="en-GB" sz="2400" b="1" u="sng"/>
              <a:t>Performance and Applications</a:t>
            </a:r>
            <a:r>
              <a:rPr lang="en-US" altLang="en-GB" sz="2400"/>
              <a:t>: P-Alert delivers real-time shakemaps using PGA and PGV, giving 2–8 seconds of warning in blind zones and supporting damage assessment</a:t>
            </a:r>
            <a:endParaRPr lang="en-US" altLang="en-GB" sz="2400"/>
          </a:p>
          <a:p>
            <a:pPr algn="just"/>
            <a:endParaRPr lang="en-US" altLang="en-GB" sz="2400"/>
          </a:p>
          <a:p>
            <a:pPr algn="just"/>
            <a:r>
              <a:rPr lang="en-US" altLang="en-GB" sz="2400" b="1" u="sng"/>
              <a:t>Global Adoption</a:t>
            </a:r>
            <a:r>
              <a:rPr lang="en-US" altLang="en-GB" sz="2400"/>
              <a:t>: With over 3500 units being installed worldwide, P-Alert is expanding cost-effective seismic monitoring and improving data products.</a:t>
            </a:r>
            <a:endParaRPr lang="en-US" altLang="en-GB" sz="2400"/>
          </a:p>
        </p:txBody>
      </p:sp>
      <p:sp>
        <p:nvSpPr>
          <p:cNvPr id="4" name="Text Box 3"/>
          <p:cNvSpPr txBox="1"/>
          <p:nvPr/>
        </p:nvSpPr>
        <p:spPr>
          <a:xfrm>
            <a:off x="838200" y="1272540"/>
            <a:ext cx="105156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GB"/>
              <a:t>Authors: Yih-Min Wu and Himanshu Mittal, Sensors (2021)</a:t>
            </a:r>
            <a:endParaRPr lang="en-US" altLang="en-GB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477520"/>
          </a:xfrm>
        </p:spPr>
        <p:txBody>
          <a:bodyPr>
            <a:normAutofit fontScale="90000"/>
          </a:bodyPr>
          <a:p>
            <a:endParaRPr lang="en-GB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054735"/>
            <a:ext cx="10515600" cy="5122545"/>
          </a:xfrm>
        </p:spPr>
        <p:txBody>
          <a:bodyPr/>
          <a:p>
            <a:pPr>
              <a:buFont typeface="Wingdings" panose="05000000000000000000" charset="0"/>
              <a:buChar char="Ø"/>
            </a:pPr>
            <a:r>
              <a:rPr lang="en-US" altLang="en-GB" b="1" u="sng"/>
              <a:t> Limitations</a:t>
            </a:r>
            <a:endParaRPr lang="en-US" altLang="en-GB" b="1" u="sng"/>
          </a:p>
          <a:p>
            <a:r>
              <a:rPr lang="en-US" altLang="en-GB"/>
              <a:t>Dynamic Range and Data Quality Constraints.</a:t>
            </a:r>
            <a:endParaRPr lang="en-US" altLang="en-GB"/>
          </a:p>
          <a:p>
            <a:r>
              <a:rPr lang="en-US" altLang="en-GB"/>
              <a:t>Logistical and Coverage Challenges.</a:t>
            </a:r>
            <a:endParaRPr lang="en-US" altLang="en-GB"/>
          </a:p>
          <a:p>
            <a:r>
              <a:rPr lang="en-US" altLang="en-GB"/>
              <a:t>Trade-offs Between Lead Time and Accuracy.</a:t>
            </a:r>
            <a:endParaRPr lang="en-US" altLang="en-GB"/>
          </a:p>
          <a:p>
            <a:pPr marL="0" indent="0">
              <a:buNone/>
            </a:pPr>
            <a:endParaRPr lang="en-US" altLang="en-GB"/>
          </a:p>
          <a:p>
            <a:pPr>
              <a:buFont typeface="Wingdings" panose="05000000000000000000" charset="0"/>
              <a:buChar char="Ø"/>
            </a:pPr>
            <a:r>
              <a:rPr lang="en-US" altLang="en-GB" b="1" u="sng"/>
              <a:t>Advantages Compared to our project</a:t>
            </a:r>
            <a:endParaRPr lang="en-US" altLang="en-GB" b="1" u="sng"/>
          </a:p>
          <a:p>
            <a:r>
              <a:rPr lang="en-US" altLang="en-GB"/>
              <a:t>No Sensor Constraint due to datasets.</a:t>
            </a:r>
            <a:endParaRPr lang="en-US" altLang="en-GB"/>
          </a:p>
          <a:p>
            <a:r>
              <a:rPr lang="en-US" altLang="en-GB"/>
              <a:t>No IoT involved.</a:t>
            </a:r>
            <a:endParaRPr lang="en-US" altLang="en-GB"/>
          </a:p>
          <a:p>
            <a:r>
              <a:rPr lang="en-US" altLang="en-GB"/>
              <a:t>Looks for Quake frequency.</a:t>
            </a:r>
            <a:endParaRPr lang="en-US" altLang="en-GB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51510"/>
          </a:xfrm>
        </p:spPr>
        <p:txBody>
          <a:bodyPr>
            <a:noAutofit/>
          </a:bodyPr>
          <a:p>
            <a:r>
              <a:rPr lang="en-US" altLang="en-GB" sz="2800">
                <a:sym typeface="+mn-ea"/>
              </a:rPr>
              <a:t>Paper 4: Deep learning for identifying earthquake precursors: Applications and challenges in subsurface fluid signals</a:t>
            </a:r>
            <a:endParaRPr lang="en-US" altLang="en-GB" sz="2800">
              <a:sym typeface="+mn-ea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97380"/>
            <a:ext cx="10515600" cy="4279900"/>
          </a:xfrm>
        </p:spPr>
        <p:txBody>
          <a:bodyPr>
            <a:normAutofit lnSpcReduction="10000"/>
          </a:bodyPr>
          <a:p>
            <a:pPr marL="0" indent="0" algn="just">
              <a:buNone/>
            </a:pPr>
            <a:endParaRPr lang="en-US" altLang="en-GB" sz="2400"/>
          </a:p>
          <a:p>
            <a:pPr algn="just"/>
            <a:r>
              <a:rPr lang="en-US" altLang="en-GB" sz="2400" b="1" u="sng"/>
              <a:t>Subsurface Fluid Signals</a:t>
            </a:r>
            <a:r>
              <a:rPr lang="en-US" altLang="en-GB" sz="2400"/>
              <a:t>: Groundwater and gas changes help predict earthquakes.</a:t>
            </a:r>
            <a:endParaRPr lang="en-US" altLang="en-GB" sz="2400"/>
          </a:p>
          <a:p>
            <a:pPr algn="just"/>
            <a:endParaRPr lang="en-US" altLang="en-GB" sz="2400"/>
          </a:p>
          <a:p>
            <a:pPr algn="just"/>
            <a:r>
              <a:rPr lang="en-US" altLang="en-GB" sz="2400" b="1" u="sng"/>
              <a:t>Deep Learning Advances</a:t>
            </a:r>
            <a:r>
              <a:rPr lang="en-US" altLang="en-GB" sz="2400"/>
              <a:t>: LSTM and Transformers detect subtle signals in noisy data.</a:t>
            </a:r>
            <a:endParaRPr lang="en-US" altLang="en-GB" sz="2400"/>
          </a:p>
          <a:p>
            <a:pPr algn="just"/>
            <a:endParaRPr lang="en-US" altLang="en-GB" sz="2400"/>
          </a:p>
          <a:p>
            <a:pPr algn="just"/>
            <a:r>
              <a:rPr lang="en-US" altLang="en-GB" sz="2400" b="1" u="sng"/>
              <a:t>Future Monitoring</a:t>
            </a:r>
            <a:r>
              <a:rPr lang="en-US" altLang="en-GB" sz="2400"/>
              <a:t>: Real-time deep learning systems aim to improve warnings and reduce false alarms.</a:t>
            </a:r>
            <a:endParaRPr lang="en-US" altLang="en-GB" sz="2400"/>
          </a:p>
        </p:txBody>
      </p:sp>
      <p:sp>
        <p:nvSpPr>
          <p:cNvPr id="4" name="Text Box 3"/>
          <p:cNvSpPr txBox="1"/>
          <p:nvPr/>
        </p:nvSpPr>
        <p:spPr>
          <a:xfrm>
            <a:off x="838200" y="1272540"/>
            <a:ext cx="105156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GB"/>
              <a:t>Authors: Liyun Fu,Zheming Shi, The Innovation GeoScience(2024) </a:t>
            </a:r>
            <a:endParaRPr lang="en-US" altLang="en-GB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477520"/>
          </a:xfrm>
        </p:spPr>
        <p:txBody>
          <a:bodyPr>
            <a:normAutofit fontScale="90000"/>
          </a:bodyPr>
          <a:p>
            <a:endParaRPr lang="en-GB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054735"/>
            <a:ext cx="10515600" cy="5122545"/>
          </a:xfrm>
        </p:spPr>
        <p:txBody>
          <a:bodyPr/>
          <a:p>
            <a:pPr>
              <a:buFont typeface="Wingdings" panose="05000000000000000000" charset="0"/>
              <a:buChar char="Ø"/>
            </a:pPr>
            <a:r>
              <a:rPr lang="en-US" altLang="en-GB" b="1" u="sng"/>
              <a:t> Limitations</a:t>
            </a:r>
            <a:endParaRPr lang="en-US" altLang="en-GB" b="1" u="sng"/>
          </a:p>
          <a:p>
            <a:r>
              <a:rPr lang="en-US" altLang="en-GB"/>
              <a:t>Dependence on Dense Seismic Networks.</a:t>
            </a:r>
            <a:endParaRPr lang="en-US" altLang="en-GB"/>
          </a:p>
          <a:p>
            <a:r>
              <a:rPr lang="en-US" altLang="en-GB"/>
              <a:t>Uncertainties and Scatter in Parameter Estimates.</a:t>
            </a:r>
            <a:endParaRPr lang="en-US" altLang="en-GB"/>
          </a:p>
          <a:p>
            <a:r>
              <a:rPr lang="en-US" altLang="en-GB"/>
              <a:t>Trade-off Between Warning Time and Accuracy.</a:t>
            </a:r>
            <a:endParaRPr lang="en-US" altLang="en-GB"/>
          </a:p>
          <a:p>
            <a:pPr marL="0" indent="0">
              <a:buNone/>
            </a:pPr>
            <a:endParaRPr lang="en-US" altLang="en-GB"/>
          </a:p>
          <a:p>
            <a:pPr>
              <a:buFont typeface="Wingdings" panose="05000000000000000000" charset="0"/>
              <a:buChar char="Ø"/>
            </a:pPr>
            <a:r>
              <a:rPr lang="en-US" altLang="en-GB" b="1" u="sng"/>
              <a:t>Advantages Compared to our project</a:t>
            </a:r>
            <a:endParaRPr lang="en-US" altLang="en-GB" b="1" u="sng"/>
          </a:p>
          <a:p>
            <a:r>
              <a:rPr lang="en-US" altLang="en-GB"/>
              <a:t>No need for sensors</a:t>
            </a:r>
            <a:endParaRPr lang="en-US" altLang="en-GB"/>
          </a:p>
          <a:p>
            <a:r>
              <a:rPr lang="en-US" altLang="en-GB"/>
              <a:t>Looks at the region rather than parameters</a:t>
            </a:r>
            <a:endParaRPr lang="en-US" altLang="en-GB"/>
          </a:p>
          <a:p>
            <a:r>
              <a:rPr lang="en-US" altLang="en-GB"/>
              <a:t>Shows warning time with accuracy</a:t>
            </a:r>
            <a:endParaRPr lang="en-US" altLang="en-GB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51510"/>
          </a:xfrm>
        </p:spPr>
        <p:txBody>
          <a:bodyPr>
            <a:noAutofit/>
          </a:bodyPr>
          <a:p>
            <a:r>
              <a:rPr lang="en-US" altLang="en-GB" sz="2800">
                <a:sym typeface="+mn-ea"/>
              </a:rPr>
              <a:t>Paper 5: A Deep Neural Network to identify foreshocks in real time</a:t>
            </a:r>
            <a:endParaRPr lang="en-US" altLang="en-GB" sz="2800">
              <a:sym typeface="+mn-ea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97380"/>
            <a:ext cx="10515600" cy="4279900"/>
          </a:xfrm>
        </p:spPr>
        <p:txBody>
          <a:bodyPr/>
          <a:p>
            <a:pPr algn="just"/>
            <a:r>
              <a:rPr lang="en-US" altLang="en-GB" sz="2400" b="1" u="sng"/>
              <a:t>Classification</a:t>
            </a:r>
            <a:r>
              <a:rPr lang="en-US" altLang="en-GB" sz="2400"/>
              <a:t>: CNN classifies seismic events with ~99% accuracy for early detection.</a:t>
            </a:r>
            <a:endParaRPr lang="en-US" altLang="en-GB" sz="2400"/>
          </a:p>
          <a:p>
            <a:pPr algn="just"/>
            <a:endParaRPr lang="en-US" altLang="en-GB" sz="2400"/>
          </a:p>
          <a:p>
            <a:pPr algn="just"/>
            <a:r>
              <a:rPr lang="en-US" altLang="en-GB" sz="2400" b="1" u="sng"/>
              <a:t>Dataset</a:t>
            </a:r>
            <a:r>
              <a:rPr lang="en-US" altLang="en-GB" sz="2400"/>
              <a:t>: Custom labeled data from global events using FFT-transformed waveforms.</a:t>
            </a:r>
            <a:endParaRPr lang="en-US" altLang="en-GB" sz="2400"/>
          </a:p>
          <a:p>
            <a:pPr algn="just"/>
            <a:endParaRPr lang="en-US" altLang="en-GB" sz="2400"/>
          </a:p>
          <a:p>
            <a:pPr algn="just"/>
            <a:r>
              <a:rPr lang="en-US" altLang="en-GB" sz="2400" b="1" u="sng"/>
              <a:t>Architecture</a:t>
            </a:r>
            <a:r>
              <a:rPr lang="en-US" altLang="en-GB" sz="2400"/>
              <a:t>: Four convolutional and two dense layers with dropout and majority voting for robust classification.</a:t>
            </a:r>
            <a:endParaRPr lang="en-US" altLang="en-GB" sz="2400"/>
          </a:p>
        </p:txBody>
      </p:sp>
      <p:sp>
        <p:nvSpPr>
          <p:cNvPr id="4" name="Text Box 3"/>
          <p:cNvSpPr txBox="1"/>
          <p:nvPr/>
        </p:nvSpPr>
        <p:spPr>
          <a:xfrm>
            <a:off x="838200" y="1272540"/>
            <a:ext cx="105156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GB"/>
              <a:t>Authors:  K.Vikraman, arXiv, Published in 2016</a:t>
            </a:r>
            <a:endParaRPr lang="en-US" altLang="en-GB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477520"/>
          </a:xfrm>
        </p:spPr>
        <p:txBody>
          <a:bodyPr>
            <a:normAutofit fontScale="90000"/>
          </a:bodyPr>
          <a:p>
            <a:endParaRPr lang="en-GB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054735"/>
            <a:ext cx="10515600" cy="5122545"/>
          </a:xfrm>
        </p:spPr>
        <p:txBody>
          <a:bodyPr/>
          <a:p>
            <a:pPr>
              <a:buFont typeface="Wingdings" panose="05000000000000000000" charset="0"/>
              <a:buChar char="Ø"/>
            </a:pPr>
            <a:r>
              <a:rPr lang="en-US" altLang="en-GB" b="1" u="sng"/>
              <a:t> Limitations</a:t>
            </a:r>
            <a:endParaRPr lang="en-US" altLang="en-GB" b="1" u="sng"/>
          </a:p>
          <a:p>
            <a:r>
              <a:rPr lang="en-US" altLang="en-GB"/>
              <a:t>Requirement of Large and Representative Training Data.</a:t>
            </a:r>
            <a:endParaRPr lang="en-US" altLang="en-GB"/>
          </a:p>
          <a:p>
            <a:r>
              <a:rPr lang="en-US" altLang="en-GB"/>
              <a:t>Potential Regional and Instrumental Bias.</a:t>
            </a:r>
            <a:endParaRPr lang="en-US" altLang="en-GB"/>
          </a:p>
          <a:p>
            <a:r>
              <a:rPr lang="en-US" altLang="en-GB"/>
              <a:t>Real-Time Operational Challenges.</a:t>
            </a:r>
            <a:endParaRPr lang="en-US" altLang="en-GB"/>
          </a:p>
          <a:p>
            <a:pPr marL="0" indent="0">
              <a:buNone/>
            </a:pPr>
            <a:endParaRPr lang="en-US" altLang="en-GB"/>
          </a:p>
          <a:p>
            <a:pPr>
              <a:buFont typeface="Wingdings" panose="05000000000000000000" charset="0"/>
              <a:buChar char="Ø"/>
            </a:pPr>
            <a:r>
              <a:rPr lang="en-US" altLang="en-GB" b="1" u="sng"/>
              <a:t>Advantages Compared to our project</a:t>
            </a:r>
            <a:endParaRPr lang="en-US" altLang="en-GB" b="1" u="sng"/>
          </a:p>
          <a:p>
            <a:r>
              <a:rPr lang="en-US" altLang="en-GB"/>
              <a:t>20,000 data taken from CalTech.</a:t>
            </a:r>
            <a:endParaRPr lang="en-US" altLang="en-GB"/>
          </a:p>
          <a:p>
            <a:r>
              <a:rPr lang="en-US" altLang="en-GB"/>
              <a:t>No Bias for the Regions.</a:t>
            </a:r>
            <a:endParaRPr lang="en-US" altLang="en-GB"/>
          </a:p>
          <a:p>
            <a:r>
              <a:rPr lang="en-US" altLang="en-GB"/>
              <a:t>Trained Model from the given data sets.</a:t>
            </a:r>
            <a:endParaRPr lang="en-US" altLang="en-GB"/>
          </a:p>
          <a:p>
            <a:endParaRPr lang="en-US" altLang="en-GB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51510"/>
          </a:xfrm>
        </p:spPr>
        <p:txBody>
          <a:bodyPr>
            <a:noAutofit/>
          </a:bodyPr>
          <a:p>
            <a:r>
              <a:rPr lang="en-US" altLang="en-GB" sz="2800">
                <a:sym typeface="+mn-ea"/>
              </a:rPr>
              <a:t>Paper 6: Earthquake transformer- an attentive deep learning model for simutanous earthquake detection and phase picking</a:t>
            </a:r>
            <a:endParaRPr lang="en-US" altLang="en-GB" sz="2800">
              <a:sym typeface="+mn-ea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97380"/>
            <a:ext cx="10515600" cy="4279900"/>
          </a:xfrm>
        </p:spPr>
        <p:txBody>
          <a:bodyPr/>
          <a:p>
            <a:pPr algn="just"/>
            <a:r>
              <a:rPr lang="en-US" altLang="en-GB" sz="2400" b="1" u="sng"/>
              <a:t>Simultaneous Detection:</a:t>
            </a:r>
            <a:r>
              <a:rPr lang="en-US" altLang="en-GB" sz="2400"/>
              <a:t> EQTransformer applies attention-based deep learning for real-time quake detection and P/S phase.</a:t>
            </a:r>
            <a:endParaRPr lang="en-US" altLang="en-GB" sz="2400"/>
          </a:p>
          <a:p>
            <a:pPr algn="just"/>
            <a:endParaRPr lang="en-US" altLang="en-GB" sz="2400"/>
          </a:p>
          <a:p>
            <a:pPr algn="just"/>
            <a:r>
              <a:rPr lang="en-US" altLang="en-GB" sz="2400" b="1" u="sng"/>
              <a:t>Performance:</a:t>
            </a:r>
            <a:r>
              <a:rPr lang="en-US" altLang="en-GB" sz="2400"/>
              <a:t> It doubles detected events and achieves analyst-level accuracy, even in noisy cases.</a:t>
            </a:r>
            <a:endParaRPr lang="en-US" altLang="en-GB" sz="2400"/>
          </a:p>
          <a:p>
            <a:pPr algn="just"/>
            <a:endParaRPr lang="en-US" altLang="en-GB" sz="2400"/>
          </a:p>
          <a:p>
            <a:pPr algn="just"/>
            <a:r>
              <a:rPr lang="en-US" altLang="en-GB" sz="2400" b="1" u="sng"/>
              <a:t>Generalization</a:t>
            </a:r>
            <a:r>
              <a:rPr lang="en-US" altLang="en-GB" sz="2400"/>
              <a:t>: Using the global STEAD dataset, it generalizes well and enables efficient, large-scale seismic monitoring.</a:t>
            </a:r>
            <a:endParaRPr lang="en-US" altLang="en-GB" sz="2400"/>
          </a:p>
        </p:txBody>
      </p:sp>
      <p:sp>
        <p:nvSpPr>
          <p:cNvPr id="4" name="Text Box 3"/>
          <p:cNvSpPr txBox="1"/>
          <p:nvPr/>
        </p:nvSpPr>
        <p:spPr>
          <a:xfrm>
            <a:off x="838200" y="1272540"/>
            <a:ext cx="105156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GB"/>
              <a:t>Authors:  William L Ellsworth,Gregory C Beroza, Nature Communications, Published in 2020</a:t>
            </a:r>
            <a:endParaRPr lang="en-US" altLang="en-GB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477520"/>
          </a:xfrm>
        </p:spPr>
        <p:txBody>
          <a:bodyPr>
            <a:normAutofit fontScale="90000"/>
          </a:bodyPr>
          <a:p>
            <a:endParaRPr lang="en-GB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054735"/>
            <a:ext cx="10515600" cy="5122545"/>
          </a:xfrm>
        </p:spPr>
        <p:txBody>
          <a:bodyPr/>
          <a:p>
            <a:pPr>
              <a:buFont typeface="Wingdings" panose="05000000000000000000" charset="0"/>
              <a:buChar char="Ø"/>
            </a:pPr>
            <a:r>
              <a:rPr lang="en-US" altLang="en-GB" b="1" u="sng"/>
              <a:t> Limitations</a:t>
            </a:r>
            <a:endParaRPr lang="en-US" altLang="en-GB" b="1" u="sng"/>
          </a:p>
          <a:p>
            <a:r>
              <a:rPr lang="en-US" altLang="en-GB">
                <a:sym typeface="+mn-ea"/>
              </a:rPr>
              <a:t>Challenge With Rare or Noisy Non-Earthquake Signals.</a:t>
            </a:r>
            <a:endParaRPr lang="en-US" altLang="en-GB"/>
          </a:p>
          <a:p>
            <a:r>
              <a:rPr lang="en-US" altLang="en-GB">
                <a:sym typeface="+mn-ea"/>
              </a:rPr>
              <a:t>Uncertainty in Phase Picking for Distant/Weak Events.</a:t>
            </a:r>
            <a:endParaRPr lang="en-US" altLang="en-GB"/>
          </a:p>
          <a:p>
            <a:r>
              <a:rPr lang="en-US" altLang="en-GB">
                <a:sym typeface="+mn-ea"/>
              </a:rPr>
              <a:t>Training Data and Labeling Dependence.</a:t>
            </a:r>
            <a:endParaRPr lang="en-US" altLang="en-GB"/>
          </a:p>
          <a:p>
            <a:pPr>
              <a:buFont typeface="Wingdings" panose="05000000000000000000" charset="0"/>
              <a:buChar char="Ø"/>
            </a:pPr>
            <a:r>
              <a:rPr lang="en-US" altLang="en-GB" b="1" u="sng"/>
              <a:t>Advantages Compared to our project</a:t>
            </a:r>
            <a:endParaRPr lang="en-US" altLang="en-GB" b="1" u="sng"/>
          </a:p>
          <a:p>
            <a:pPr/>
            <a:endParaRPr lang="en-US" altLang="en-GB" b="1" u="sng"/>
          </a:p>
          <a:p>
            <a:endParaRPr lang="en-US" altLang="en-GB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51510"/>
          </a:xfrm>
        </p:spPr>
        <p:txBody>
          <a:bodyPr>
            <a:noAutofit/>
          </a:bodyPr>
          <a:p>
            <a:r>
              <a:rPr lang="en-US" altLang="en-GB" sz="2800">
                <a:sym typeface="+mn-ea"/>
              </a:rPr>
              <a:t>Paper 7:  Reliable Real-time Seismic Signal /Noise Discrimination with Machine Learning</a:t>
            </a:r>
            <a:endParaRPr lang="en-US" altLang="en-GB" sz="2800">
              <a:sym typeface="+mn-ea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97380"/>
            <a:ext cx="10515600" cy="4279900"/>
          </a:xfrm>
        </p:spPr>
        <p:txBody>
          <a:bodyPr>
            <a:normAutofit lnSpcReduction="20000"/>
          </a:bodyPr>
          <a:p>
            <a:pPr algn="just"/>
            <a:endParaRPr lang="en-US" altLang="en-GB" sz="2400" b="1" u="sng"/>
          </a:p>
          <a:p>
            <a:pPr algn="just"/>
            <a:r>
              <a:rPr lang="en-US" altLang="en-GB" sz="2400" b="1" u="sng"/>
              <a:t>Core Problem</a:t>
            </a:r>
            <a:r>
              <a:rPr lang="en-US" altLang="en-GB" sz="2400"/>
              <a:t>: Distinguishing real quakes from noise in seconds is vital for EEW but hard with traditional methods.</a:t>
            </a:r>
            <a:endParaRPr lang="en-US" altLang="en-GB" sz="2400"/>
          </a:p>
          <a:p>
            <a:pPr marL="0" indent="0" algn="just">
              <a:buNone/>
            </a:pPr>
            <a:endParaRPr lang="en-US" altLang="en-GB" sz="2400"/>
          </a:p>
          <a:p>
            <a:pPr algn="just"/>
            <a:r>
              <a:rPr lang="en-US" altLang="en-GB" sz="2400" b="1" u="sng"/>
              <a:t>Machine Learning</a:t>
            </a:r>
            <a:r>
              <a:rPr lang="en-US" altLang="en-GB" sz="2400"/>
              <a:t>: Deep models like CNNs and GAN-RF achieve &gt;99% precision/recall, cutting false and missed alerts.</a:t>
            </a:r>
            <a:endParaRPr lang="en-US" altLang="en-GB" sz="2400"/>
          </a:p>
          <a:p>
            <a:pPr algn="just"/>
            <a:endParaRPr lang="en-US" altLang="en-GB" sz="2400"/>
          </a:p>
          <a:p>
            <a:pPr algn="just"/>
            <a:r>
              <a:rPr lang="en-US" altLang="en-GB" sz="2400" b="1" u="sng"/>
              <a:t>Implications</a:t>
            </a:r>
            <a:r>
              <a:rPr lang="en-US" altLang="en-GB" sz="2400"/>
              <a:t>: These models allow faster alerts from fewer stations, remain robust in noisy settings, and scale to global networks.</a:t>
            </a:r>
            <a:endParaRPr lang="en-US" altLang="en-GB" sz="2400"/>
          </a:p>
        </p:txBody>
      </p:sp>
      <p:sp>
        <p:nvSpPr>
          <p:cNvPr id="4" name="Text Box 3"/>
          <p:cNvSpPr txBox="1"/>
          <p:nvPr/>
        </p:nvSpPr>
        <p:spPr>
          <a:xfrm>
            <a:off x="838200" y="1272540"/>
            <a:ext cx="1051560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GB"/>
              <a:t>Authors:  Anshul Ramachandran, Ashwin Balakrishna, Suraj Nair, Journal Of GeoPhysical Research, Published in 2019</a:t>
            </a:r>
            <a:endParaRPr lang="en-US" altLang="en-GB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477520"/>
          </a:xfrm>
        </p:spPr>
        <p:txBody>
          <a:bodyPr>
            <a:normAutofit fontScale="90000"/>
          </a:bodyPr>
          <a:p>
            <a:endParaRPr lang="en-GB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054735"/>
            <a:ext cx="10515600" cy="5122545"/>
          </a:xfrm>
        </p:spPr>
        <p:txBody>
          <a:bodyPr/>
          <a:p>
            <a:pPr>
              <a:buFont typeface="Wingdings" panose="05000000000000000000" charset="0"/>
              <a:buChar char="Ø"/>
            </a:pPr>
            <a:r>
              <a:rPr lang="en-US" altLang="en-GB" b="1" u="sng"/>
              <a:t> Limitations</a:t>
            </a:r>
            <a:endParaRPr lang="en-US" altLang="en-GB" b="1" u="sng"/>
          </a:p>
          <a:p>
            <a:pPr/>
            <a:r>
              <a:rPr lang="en-US" altLang="en-GB"/>
              <a:t>Sensitivity to Teleseismic Signals.</a:t>
            </a:r>
            <a:endParaRPr lang="en-US" altLang="en-GB"/>
          </a:p>
          <a:p>
            <a:pPr/>
            <a:r>
              <a:rPr lang="en-US" altLang="en-GB"/>
              <a:t>Portability and Noise Diversity.</a:t>
            </a:r>
            <a:endParaRPr lang="en-US" altLang="en-GB"/>
          </a:p>
          <a:p>
            <a:pPr/>
            <a:r>
              <a:rPr lang="en-US" altLang="en-GB"/>
              <a:t>False/Missed Alerts Beyond Station Detection.</a:t>
            </a:r>
            <a:endParaRPr lang="en-US" altLang="en-GB"/>
          </a:p>
          <a:p>
            <a:pPr>
              <a:buFont typeface="Wingdings" panose="05000000000000000000" charset="0"/>
              <a:buChar char="Ø"/>
            </a:pPr>
            <a:r>
              <a:rPr lang="en-US" altLang="en-GB" b="1" u="sng"/>
              <a:t>Advantages Compared to our project</a:t>
            </a:r>
            <a:endParaRPr lang="en-US" altLang="en-GB" b="1" u="sng"/>
          </a:p>
          <a:p>
            <a:endParaRPr lang="en-US" altLang="en-GB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GB" b="1"/>
              <a:t>Conclusion</a:t>
            </a:r>
            <a:endParaRPr lang="en-US" altLang="en-GB" b="1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en-GB" sz="2400"/>
              <a:t>Real-time data, sensor networks, and machine learning models are enhancing earthquake early warning systems for faster and more accurate alerts.</a:t>
            </a:r>
            <a:endParaRPr lang="en-US" altLang="en-GB" sz="2400"/>
          </a:p>
          <a:p>
            <a:pPr marL="0" indent="0">
              <a:buNone/>
            </a:pPr>
            <a:endParaRPr lang="en-US" altLang="en-GB" sz="2400"/>
          </a:p>
          <a:p>
            <a:r>
              <a:rPr lang="en-US" altLang="en-GB" sz="2400"/>
              <a:t>Earthquake monitoring still faces challenges such as the need for dense networks, limited data quality, and balancing warning time with accuracy.</a:t>
            </a:r>
            <a:endParaRPr lang="en-US" altLang="en-GB" sz="2400"/>
          </a:p>
          <a:p>
            <a:pPr marL="0" indent="0">
              <a:buNone/>
            </a:pPr>
            <a:endParaRPr lang="en-US" altLang="en-GB" sz="2400"/>
          </a:p>
          <a:p>
            <a:r>
              <a:rPr lang="en-US" altLang="en-GB" sz="2400"/>
              <a:t>Future systems focus on integrating diverse datasets,and using advanced AI models to create scalable and reliable earthquake warning solutions.</a:t>
            </a:r>
            <a:endParaRPr lang="en-US" altLang="en-GB" sz="240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GB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3195320"/>
            <a:ext cx="10515600" cy="695960"/>
          </a:xfrm>
        </p:spPr>
        <p:txBody>
          <a:bodyPr>
            <a:noAutofit/>
          </a:bodyPr>
          <a:p>
            <a:pPr marL="0" indent="0">
              <a:buNone/>
            </a:pPr>
            <a:r>
              <a:rPr lang="en-US" altLang="en-GB" sz="5900">
                <a:latin typeface="Times New Roman" panose="02020603050405020304" charset="0"/>
                <a:cs typeface="Times New Roman" panose="02020603050405020304" charset="0"/>
              </a:rPr>
              <a:t>             THANK YOU</a:t>
            </a:r>
            <a:endParaRPr lang="en-US" altLang="en-GB" sz="5900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7133</Words>
  <Application>WPS Presentation</Application>
  <PresentationFormat>Widescreen</PresentationFormat>
  <Paragraphs>178</Paragraphs>
  <Slides>20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20</vt:i4>
      </vt:variant>
    </vt:vector>
  </HeadingPairs>
  <TitlesOfParts>
    <vt:vector size="30" baseType="lpstr">
      <vt:lpstr>Arial</vt:lpstr>
      <vt:lpstr>SimSun</vt:lpstr>
      <vt:lpstr>Wingdings</vt:lpstr>
      <vt:lpstr>Times New Roman</vt:lpstr>
      <vt:lpstr>Wingdings</vt:lpstr>
      <vt:lpstr>Calibri</vt:lpstr>
      <vt:lpstr>Microsoft YaHei</vt:lpstr>
      <vt:lpstr>Arial Unicode MS</vt:lpstr>
      <vt:lpstr>Calibri Light</vt:lpstr>
      <vt:lpstr>Office Theme</vt:lpstr>
      <vt:lpstr>Seismic Detection And Visualisation and Analysis</vt:lpstr>
      <vt:lpstr>CONTENTS</vt:lpstr>
      <vt:lpstr>General Introduction</vt:lpstr>
      <vt:lpstr>PowerPoint 演示文稿</vt:lpstr>
      <vt:lpstr>Paper 1: Earthquake Early Warning and Realtime Earthquake           Disaster Prevention </vt:lpstr>
      <vt:lpstr>PowerPoint 演示文稿</vt:lpstr>
      <vt:lpstr>Paper 2: Stable operation process of earthquake early warning system based on machine learning: trial test and management perspective</vt:lpstr>
      <vt:lpstr>PowerPoint 演示文稿</vt:lpstr>
      <vt:lpstr>Paper 3: A Review on the Development of Earthquake Warning System Using Low-Cost Sensors in Taiwan</vt:lpstr>
      <vt:lpstr>PowerPoint 演示文稿</vt:lpstr>
      <vt:lpstr>Paper 4: Deep learning for identifying earthquake precursors: Applications and challenges in subsurface fluid signals</vt:lpstr>
      <vt:lpstr>PowerPoint 演示文稿</vt:lpstr>
      <vt:lpstr>Paper 5: A Deep Neural Network to identify foreshocks in real time</vt:lpstr>
      <vt:lpstr>PowerPoint 演示文稿</vt:lpstr>
      <vt:lpstr>Paper 5: A Deep Neural Network to identify foreshocks in real time</vt:lpstr>
      <vt:lpstr>PowerPoint 演示文稿</vt:lpstr>
      <vt:lpstr>Paper 5: A Deep Neural Network to identify foreshocks in real time</vt:lpstr>
      <vt:lpstr>PowerPoint 演示文稿</vt:lpstr>
      <vt:lpstr>Conclusion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Seismic Detection And Visualisation and Analysis</dc:title>
  <dc:creator/>
  <cp:lastModifiedBy>Allan shibu</cp:lastModifiedBy>
  <cp:revision>9</cp:revision>
  <dcterms:created xsi:type="dcterms:W3CDTF">2025-09-10T10:30:00Z</dcterms:created>
  <dcterms:modified xsi:type="dcterms:W3CDTF">2025-09-23T17:07:05Z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89EA6EABAA754BD48BF39568908EAF0C_13</vt:lpwstr>
  </property>
  <property fmtid="{D5CDD505-2E9C-101B-9397-08002B2CF9AE}" pid="3" name="KSOProductBuildVer">
    <vt:lpwstr>2057-12.2.0.22556</vt:lpwstr>
  </property>
</Properties>
</file>