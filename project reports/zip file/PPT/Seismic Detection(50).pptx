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64" r:id="rId5"/>
    <p:sldId id="270" r:id="rId6"/>
    <p:sldId id="271" r:id="rId7"/>
    <p:sldId id="279" r:id="rId8"/>
    <p:sldId id="268" r:id="rId9"/>
    <p:sldId id="280" r:id="rId10"/>
    <p:sldId id="281" r:id="rId11"/>
    <p:sldId id="282" r:id="rId12"/>
    <p:sldId id="272" r:id="rId13"/>
    <p:sldId id="263" r:id="rId14"/>
    <p:sldId id="273" r:id="rId15"/>
    <p:sldId id="274" r:id="rId16"/>
    <p:sldId id="275" r:id="rId17"/>
    <p:sldId id="276" r:id="rId18"/>
    <p:sldId id="277" r:id="rId19"/>
    <p:sldId id="278" r:id="rId20"/>
    <p:sldId id="262" r:id="rId21"/>
    <p:sldId id="261" r:id="rId22"/>
    <p:sldId id="265" r:id="rId23"/>
    <p:sldId id="266" r:id="rId24"/>
    <p:sldId id="283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4670"/>
            <a:ext cx="9144000" cy="2377440"/>
          </a:xfrm>
        </p:spPr>
        <p:txBody>
          <a:bodyPr/>
          <a:lstStyle/>
          <a:p>
            <a:br>
              <a:rPr lang="en-US" sz="3200" b="1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</a:rPr>
              <a:t>(SeismicQuake)</a:t>
            </a:r>
            <a:br>
              <a:rPr lang="en-US" sz="3200" b="1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Seismic Detection,Visualisation and Analysis</a:t>
            </a:r>
            <a:endParaRPr lang="en-US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786620" cy="2810510"/>
          </a:xfrm>
        </p:spPr>
        <p:txBody>
          <a:bodyPr>
            <a:normAutofit/>
          </a:bodyPr>
          <a:lstStyle/>
          <a:p>
            <a:pPr algn="just"/>
            <a:r>
              <a:rPr lang="en-US">
                <a:sym typeface="+mn-ea"/>
              </a:rPr>
              <a:t>                                                                                                </a:t>
            </a:r>
            <a:r>
              <a:rPr lang="en-US" sz="2000" b="1">
                <a:sym typeface="+mn-ea"/>
              </a:rPr>
              <a:t>PREPARED BY</a:t>
            </a:r>
            <a:r>
              <a:rPr lang="en-US" sz="2000">
                <a:sym typeface="+mn-ea"/>
              </a:rPr>
              <a:t>:</a:t>
            </a:r>
            <a:endParaRPr lang="en-US" sz="2000">
              <a:sym typeface="+mn-ea"/>
            </a:endParaRPr>
          </a:p>
          <a:p>
            <a:pPr algn="just"/>
            <a:r>
              <a:rPr lang="en-US" sz="2000">
                <a:sym typeface="+mn-ea"/>
              </a:rPr>
              <a:t>                                                                                                                      </a:t>
            </a:r>
            <a:r>
              <a:rPr lang="en-US" sz="2000">
                <a:sym typeface="+mn-ea"/>
              </a:rPr>
              <a:t>PROF . JOSMY GEORGE </a:t>
            </a:r>
            <a:endParaRPr lang="en-US" sz="2000"/>
          </a:p>
          <a:p>
            <a:pPr algn="just"/>
            <a:r>
              <a:rPr lang="en-US" sz="2000">
                <a:sym typeface="+mn-ea"/>
              </a:rPr>
              <a:t>                                                                                                                      JUSTINE BIJU PAUL</a:t>
            </a:r>
            <a:endParaRPr lang="en-US" sz="2000">
              <a:sym typeface="+mn-ea"/>
            </a:endParaRPr>
          </a:p>
          <a:p>
            <a:pPr algn="just"/>
            <a:r>
              <a:rPr lang="en-US" sz="2000">
                <a:sym typeface="+mn-ea"/>
              </a:rPr>
              <a:t>                                                                                                                      NISSA ANN SAJI                                                                                                                            </a:t>
            </a:r>
            <a:endParaRPr lang="en-US" sz="2000">
              <a:sym typeface="+mn-ea"/>
            </a:endParaRPr>
          </a:p>
          <a:p>
            <a:pPr algn="just"/>
            <a:r>
              <a:rPr lang="en-US" sz="2000">
                <a:sym typeface="+mn-ea"/>
              </a:rPr>
              <a:t>                                                                                                                      </a:t>
            </a:r>
            <a:r>
              <a:rPr lang="en-US" sz="2000">
                <a:sym typeface="+mn-ea"/>
              </a:rPr>
              <a:t>BIJIN BINOY </a:t>
            </a:r>
            <a:endParaRPr lang="en-US" sz="2000">
              <a:sym typeface="+mn-ea"/>
            </a:endParaRPr>
          </a:p>
          <a:p>
            <a:pPr algn="just"/>
            <a:r>
              <a:rPr lang="en-US" sz="2000">
                <a:sym typeface="+mn-ea"/>
              </a:rPr>
              <a:t>                                                                                                                      ALLAN SHIBU KOSHY</a:t>
            </a:r>
            <a:endParaRPr lang="en-US" sz="20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34970" y="399415"/>
            <a:ext cx="68687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</a:rPr>
              <a:t>             IDIC CONFERENCE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lang="en-IN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INTRODUCTION 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EXISTING SYSTEMS AND LIMITATIONS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PROPOSED SYSTEM AND ADVANTAGES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PROPOSED METHODOLOGY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ARCHITECTURE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INITIAL MODULES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RESULT AND DISCUSSION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FUTURE PLANS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CONCLUSION 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IN" sz="24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Introduction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en-US" altLang="en-GB">
                <a:sym typeface="+mn-ea"/>
              </a:rPr>
              <a:t>Earthquake detection and warning systems are designed to identify early seismic signals, assess risk, and quickly alert people and infrastructure in danger.</a:t>
            </a:r>
            <a:endParaRPr lang="en-US" altLang="en-GB"/>
          </a:p>
          <a:p>
            <a:pPr algn="just"/>
            <a:endParaRPr lang="en-US" altLang="en-GB"/>
          </a:p>
          <a:p>
            <a:pPr algn="just"/>
            <a:r>
              <a:rPr lang="en-US" altLang="en-GB">
                <a:sym typeface="+mn-ea"/>
              </a:rPr>
              <a:t>These systems use real-time data from sensor networks, signal processing, and sometimes machine learning for rapid earthquake recognition.</a:t>
            </a:r>
            <a:endParaRPr lang="en-US" altLang="en-GB"/>
          </a:p>
          <a:p>
            <a:pPr marL="0" indent="0" algn="just">
              <a:buNone/>
            </a:pPr>
            <a:endParaRPr lang="en-US" altLang="en-GB"/>
          </a:p>
          <a:p>
            <a:pPr algn="just"/>
            <a:r>
              <a:rPr lang="en-US" altLang="en-GB">
                <a:sym typeface="+mn-ea"/>
              </a:rPr>
              <a:t>The goal is to provide advance warning—seconds to minutes before shaking—to enable protective actions that reduce injury and damage.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Existing System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514350" indent="-514350" algn="just">
              <a:buAutoNum type="arabicPeriod"/>
            </a:pPr>
            <a:r>
              <a:rPr lang="en-US" altLang="en-GB" b="1" u="sng"/>
              <a:t>STA/LTA Trigger</a:t>
            </a:r>
            <a:r>
              <a:rPr lang="en-US" altLang="en-GB"/>
              <a:t>: Detects events by comparing short- and long-term seismic energy ratios.</a:t>
            </a:r>
            <a:endParaRPr lang="en-US" altLang="en-GB"/>
          </a:p>
          <a:p>
            <a:pPr marL="514350" indent="-514350" algn="just">
              <a:buAutoNum type="arabicPeriod"/>
            </a:pPr>
            <a:endParaRPr lang="en-US" altLang="en-GB"/>
          </a:p>
          <a:p>
            <a:pPr marL="514350" indent="-514350" algn="just">
              <a:buAutoNum type="arabicPeriod"/>
            </a:pPr>
            <a:r>
              <a:rPr lang="en-US" altLang="en-GB" b="1" u="sng"/>
              <a:t>Manual Phase Picking</a:t>
            </a:r>
            <a:r>
              <a:rPr lang="en-US" altLang="en-GB"/>
              <a:t>: Experts manually identify P- and S-wave arrivals for epicenter location.</a:t>
            </a:r>
            <a:endParaRPr lang="en-US" altLang="en-GB"/>
          </a:p>
          <a:p>
            <a:pPr marL="514350" indent="-514350" algn="just">
              <a:buAutoNum type="arabicPeriod"/>
            </a:pPr>
            <a:endParaRPr lang="en-US" altLang="en-GB"/>
          </a:p>
          <a:p>
            <a:pPr marL="514350" indent="-514350" algn="just">
              <a:buAutoNum type="arabicPeriod"/>
            </a:pPr>
            <a:r>
              <a:rPr lang="en-US" altLang="en-GB" b="1" u="sng"/>
              <a:t>Template Matching</a:t>
            </a:r>
            <a:r>
              <a:rPr lang="en-US" altLang="en-GB"/>
              <a:t>: Matches incoming signals with known earthquake waveform templates.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Limitations of Existing Systems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en-US" altLang="en-GB" b="1" u="sng"/>
              <a:t>High False Alarms</a:t>
            </a:r>
            <a:r>
              <a:rPr lang="en-US" altLang="en-GB"/>
              <a:t>: Noise sensitivity causes frequent false detections requiring manual filtering.</a:t>
            </a:r>
            <a:endParaRPr lang="en-US" altLang="en-GB"/>
          </a:p>
          <a:p>
            <a:endParaRPr lang="en-US" altLang="en-GB"/>
          </a:p>
          <a:p>
            <a:pPr algn="just"/>
            <a:r>
              <a:rPr lang="en-US" altLang="en-GB" b="1" u="sng"/>
              <a:t>Scalability and Latency Issues</a:t>
            </a:r>
            <a:r>
              <a:rPr lang="en-US" altLang="en-GB"/>
              <a:t>: Large data volumes and manual verification lead to delays and poor real-time performance.</a:t>
            </a:r>
            <a:endParaRPr lang="en-US" altLang="en-GB"/>
          </a:p>
          <a:p>
            <a:pPr algn="just"/>
            <a:endParaRPr lang="en-US" altLang="en-GB"/>
          </a:p>
          <a:p>
            <a:pPr algn="just"/>
            <a:r>
              <a:rPr lang="en-US" altLang="en-GB" b="1" u="sng"/>
              <a:t>Parameter Sensitivity</a:t>
            </a:r>
            <a:r>
              <a:rPr lang="en-US" altLang="en-GB"/>
              <a:t>: Algorithms need careful, station-specific parameter tuning.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Proposed System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/>
              <a:t>SeismicQuake</a:t>
            </a:r>
            <a:r>
              <a:rPr lang="en-US" altLang="en-GB"/>
              <a:t> is an end-to-end deep learning framework replacing heuristic triggers with learned representations. </a:t>
            </a:r>
            <a:endParaRPr lang="en-US" altLang="en-GB"/>
          </a:p>
          <a:p>
            <a:r>
              <a:rPr lang="en-US" altLang="en-GB"/>
              <a:t>The system is autonomous (fully automated detection, classification, and characterization), noise-resilient (trained on large datasets to separate noise from seismic signals), and real-time (optimized for low-latency inference). </a:t>
            </a:r>
            <a:endParaRPr lang="en-US" altLang="en-GB"/>
          </a:p>
          <a:p>
            <a:r>
              <a:rPr lang="en-US" altLang="en-GB"/>
              <a:t>It integrates three specialized neural networks into a cohesive pipeline with a user-friendly desktop interface.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Advantages Of Proposed System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/>
            <a:r>
              <a:rPr lang="en-US" altLang="en-GB" b="1" u="sng"/>
              <a:t>Superior accuracy</a:t>
            </a:r>
            <a:r>
              <a:rPr lang="en-US" altLang="en-GB"/>
              <a:t>: 96.81% in binary detection and 99.69% in wave classification, far exceeding traditional triggers.</a:t>
            </a:r>
            <a:endParaRPr lang="en-US" altLang="en-GB"/>
          </a:p>
          <a:p>
            <a:pPr algn="just"/>
            <a:r>
              <a:rPr lang="en-US" altLang="en-GB" b="1" u="sng"/>
              <a:t>Granular analysis</a:t>
            </a:r>
            <a:r>
              <a:rPr lang="en-US" altLang="en-GB"/>
              <a:t>: Distinguishes P, S, and surface wave phases for automated phase picking and epicenter triangulation.</a:t>
            </a:r>
            <a:endParaRPr lang="en-US" altLang="en-GB"/>
          </a:p>
          <a:p>
            <a:pPr algn="just"/>
            <a:r>
              <a:rPr lang="en-US" altLang="en-GB" b="1" u="sng"/>
              <a:t>Fast magnitude estimation</a:t>
            </a:r>
            <a:r>
              <a:rPr lang="en-US" altLang="en-GB"/>
              <a:t>: Delivers magnitude with MAE 0.37 within seconds of P-wave arrival.</a:t>
            </a:r>
            <a:endParaRPr lang="en-US" altLang="en-GB"/>
          </a:p>
          <a:p>
            <a:pPr algn="just"/>
            <a:r>
              <a:rPr lang="en-US" altLang="en-GB" b="1" u="sng"/>
              <a:t>Robust and Generalizable</a:t>
            </a:r>
            <a:r>
              <a:rPr lang="en-US" altLang="en-GB"/>
              <a:t>: Trained on the diverse STEAD dataset to handle varied noise and geological settings.</a:t>
            </a:r>
            <a:endParaRPr lang="en-US" altLang="en-GB"/>
          </a:p>
          <a:p>
            <a:pPr algn="just"/>
            <a:r>
              <a:rPr lang="en-US" altLang="en-GB" b="1" u="sng"/>
              <a:t>Cost-effective</a:t>
            </a:r>
            <a:r>
              <a:rPr lang="en-US" altLang="en-GB"/>
              <a:t>: Runs on standard consumer GPUs without specialized seismological hardware.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Proposed Methodology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Data Acquisition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The system utilizes the </a:t>
            </a:r>
            <a:r>
              <a:rPr lang="en-US" altLang="en-GB" b="1"/>
              <a:t>STEAD</a:t>
            </a:r>
            <a:r>
              <a:rPr lang="en-US" altLang="en-GB"/>
              <a:t> (Stanford Earthquake Dataset), a global dataset of over 1.2 million labeled seismic traces.</a:t>
            </a:r>
            <a:endParaRPr lang="en-US" altLang="en-GB"/>
          </a:p>
          <a:p>
            <a:pPr algn="just"/>
            <a:r>
              <a:rPr lang="en-US" altLang="en-GB" b="1"/>
              <a:t>Inputs</a:t>
            </a:r>
            <a:r>
              <a:rPr lang="en-US" altLang="en-GB"/>
              <a:t>: 3-component seismograms (East, North, Vertical).  </a:t>
            </a:r>
            <a:endParaRPr lang="en-US" altLang="en-GB"/>
          </a:p>
          <a:p>
            <a:pPr algn="just"/>
            <a:r>
              <a:rPr lang="en-US" altLang="en-GB" b="1"/>
              <a:t>Labels</a:t>
            </a:r>
            <a:r>
              <a:rPr lang="en-US" altLang="en-GB"/>
              <a:t>: Earthquake/Noise tags, P/S arrival times, and source magnitudes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>
              <a:buFont typeface="Wingdings" panose="05000000000000000000" charset="0"/>
              <a:buChar char="Ø"/>
            </a:pPr>
            <a:r>
              <a:rPr lang="en-US" altLang="en-GB" b="1" u="sng"/>
              <a:t>Data Preprocessing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• </a:t>
            </a:r>
            <a:r>
              <a:rPr lang="en-US" altLang="en-GB" b="1"/>
              <a:t>Channel Selection</a:t>
            </a:r>
            <a:r>
              <a:rPr lang="en-US" altLang="en-GB"/>
              <a:t>: The Vertical (Z) component is extracted as it typically contains the clearest P-wave arrivals.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• </a:t>
            </a:r>
            <a:r>
              <a:rPr lang="en-US" altLang="en-GB" b="1"/>
              <a:t>Normalization</a:t>
            </a:r>
            <a:r>
              <a:rPr lang="en-US" altLang="en-GB"/>
              <a:t>: Waveforms are normalized to the range [-1, 1] to ensure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numerical stability during training.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• </a:t>
            </a:r>
            <a:r>
              <a:rPr lang="en-US" altLang="en-GB" b="1"/>
              <a:t>Windowing</a:t>
            </a:r>
            <a:r>
              <a:rPr lang="en-US" altLang="en-GB"/>
              <a:t>: Signals are sliced into fixed-length windows of 400 samples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(4 seconds at 100Hz) to capture local temporal features.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• </a:t>
            </a:r>
            <a:r>
              <a:rPr lang="en-US" altLang="en-GB" b="1"/>
              <a:t>Balancing</a:t>
            </a:r>
            <a:r>
              <a:rPr lang="en-US" altLang="en-GB"/>
              <a:t>: Class weights are computed to handle class imbalance during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training.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>
              <a:buFont typeface="Wingdings" panose="05000000000000000000" charset="0"/>
              <a:buChar char="Ø"/>
            </a:pPr>
            <a:r>
              <a:rPr lang="en-US" altLang="en-GB" b="1" u="sng"/>
              <a:t>Model Development</a:t>
            </a:r>
            <a:endParaRPr lang="en-US" altLang="en-GB" b="1" u="sng"/>
          </a:p>
          <a:p>
            <a:pPr marL="0" indent="0" algn="just">
              <a:buNone/>
            </a:pPr>
            <a:r>
              <a:rPr lang="en-US" altLang="en-GB"/>
              <a:t>Three distinct models were developed to handle specific tasks: 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1. </a:t>
            </a:r>
            <a:r>
              <a:rPr lang="en-US" altLang="en-GB" b="1"/>
              <a:t>Earthquake Detector</a:t>
            </a:r>
            <a:r>
              <a:rPr lang="en-US" altLang="en-GB"/>
              <a:t>: A binary classifier to filter noise. 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2. </a:t>
            </a:r>
            <a:r>
              <a:rPr lang="en-US" altLang="en-GB" b="1"/>
              <a:t>Wave Classifier</a:t>
            </a:r>
            <a:r>
              <a:rPr lang="en-US" altLang="en-GB"/>
              <a:t>: A multiclass classifier to identify wave phases. 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3. </a:t>
            </a:r>
            <a:r>
              <a:rPr lang="en-US" altLang="en-GB" b="1"/>
              <a:t>Magnitude Predictor</a:t>
            </a:r>
            <a:r>
              <a:rPr lang="en-US" altLang="en-GB"/>
              <a:t>: A regression model to estimate earthquake size.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 fontScale="90000"/>
          </a:bodyPr>
          <a:p>
            <a:r>
              <a:rPr lang="en-US" altLang="en-GB"/>
              <a:t>Architecture</a:t>
            </a:r>
            <a:endParaRPr lang="en-US" altLang="en-GB"/>
          </a:p>
        </p:txBody>
      </p:sp>
      <p:pic>
        <p:nvPicPr>
          <p:cNvPr id="4" name="Content Placeholder 3" descr="Architectur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52315" y="140335"/>
            <a:ext cx="6974205" cy="6541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Initial Modules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Data Sets </a:t>
            </a:r>
            <a:endParaRPr lang="en-US" altLang="en-GB" b="1" u="sng"/>
          </a:p>
          <a:p>
            <a:pPr algn="just"/>
            <a:r>
              <a:rPr lang="en-US" altLang="en-GB"/>
              <a:t>The data set needed was obtained from</a:t>
            </a:r>
            <a:r>
              <a:rPr lang="en-US" altLang="en-GB" b="1"/>
              <a:t> STEAD</a:t>
            </a:r>
            <a:r>
              <a:rPr lang="en-US" altLang="en-GB"/>
              <a:t>[Stanford Earthquake Dataset].</a:t>
            </a:r>
            <a:endParaRPr lang="en-US" altLang="en-GB"/>
          </a:p>
          <a:p>
            <a:pPr algn="just"/>
            <a:r>
              <a:rPr lang="en-US" altLang="en-GB"/>
              <a:t>Has about 1,000,000 data sets containing P,S and Surface waves which was cleaned,processed and filtered.</a:t>
            </a:r>
            <a:endParaRPr lang="en-US" altLang="en-GB"/>
          </a:p>
          <a:p>
            <a:pPr algn="just"/>
            <a:r>
              <a:rPr lang="en-US" altLang="en-GB"/>
              <a:t>So the data set was reduced to 500,000 data sets.</a:t>
            </a:r>
            <a:endParaRPr lang="en-US" altLang="en-GB"/>
          </a:p>
          <a:p>
            <a:pPr algn="just"/>
            <a:r>
              <a:rPr lang="en-US" altLang="en-GB"/>
              <a:t>Stored as numpy binary and opened via </a:t>
            </a:r>
            <a:r>
              <a:rPr lang="en-US" altLang="en-GB" b="1"/>
              <a:t>HADOOP</a:t>
            </a:r>
            <a:r>
              <a:rPr lang="en-US" altLang="en-GB"/>
              <a:t>.</a:t>
            </a:r>
            <a:endParaRPr lang="en-US" altLang="en-GB"/>
          </a:p>
          <a:p>
            <a:pPr algn="just"/>
            <a:r>
              <a:rPr lang="en-US" altLang="en-GB"/>
              <a:t>Can be accessed via Kaggle.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20"/>
          </a:xfrm>
        </p:spPr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5500"/>
            <a:ext cx="10515600" cy="5351780"/>
          </a:xfrm>
        </p:spPr>
        <p:txBody>
          <a:bodyPr>
            <a:normAutofit fontScale="90000" lnSpcReduction="10000"/>
          </a:bodyPr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Input Module</a:t>
            </a:r>
            <a:endParaRPr lang="en-US" altLang="en-GB" b="1" u="sng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• Supported Formats: </a:t>
            </a:r>
            <a:r>
              <a:rPr lang="en-US" altLang="en-GB" b="1"/>
              <a:t>MiniSEED </a:t>
            </a:r>
            <a:r>
              <a:rPr lang="en-US" altLang="en-GB"/>
              <a:t>(.mseed),</a:t>
            </a:r>
            <a:r>
              <a:rPr lang="en-US" altLang="en-GB" b="1"/>
              <a:t> WAV </a:t>
            </a:r>
            <a:r>
              <a:rPr lang="en-US" altLang="en-GB"/>
              <a:t>audio (.wav), and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 b="1"/>
              <a:t>NumPy </a:t>
            </a:r>
            <a:r>
              <a:rPr lang="en-US" altLang="en-GB"/>
              <a:t>arrays (.npy).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• Stream Handling: Implements a ring buffer to handle continuous real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time data streams.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 </a:t>
            </a:r>
            <a:r>
              <a:rPr lang="en-US" altLang="en-GB" b="1" u="sng"/>
              <a:t>AI Core Module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• </a:t>
            </a:r>
            <a:r>
              <a:rPr lang="en-US" altLang="en-GB" b="1"/>
              <a:t>Earthquake Detector</a:t>
            </a:r>
            <a:r>
              <a:rPr lang="en-US" altLang="en-GB"/>
              <a:t>: 4-layer 1D CNN with </a:t>
            </a:r>
            <a:r>
              <a:rPr lang="en-US" altLang="en-GB" b="1"/>
              <a:t>Global Average Pooling</a:t>
            </a:r>
            <a:r>
              <a:rPr lang="en-US" altLang="en-GB"/>
              <a:t>.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• </a:t>
            </a:r>
            <a:r>
              <a:rPr lang="en-US" altLang="en-GB" b="1"/>
              <a:t>Wave Classifie</a:t>
            </a:r>
            <a:r>
              <a:rPr lang="en-US" altLang="en-GB"/>
              <a:t>r: 4-layer 1D CNN with an </a:t>
            </a:r>
            <a:r>
              <a:rPr lang="en-US" altLang="en-GB" b="1"/>
              <a:t>Attention Mechanism </a:t>
            </a:r>
            <a:r>
              <a:rPr lang="en-US" altLang="en-GB"/>
              <a:t>to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focus on distinct wave characteristics.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• </a:t>
            </a:r>
            <a:r>
              <a:rPr lang="en-US" altLang="en-GB" b="1"/>
              <a:t>Magnitude Predictor</a:t>
            </a:r>
            <a:r>
              <a:rPr lang="en-US" altLang="en-GB"/>
              <a:t>: </a:t>
            </a:r>
            <a:r>
              <a:rPr lang="en-US" altLang="en-GB" b="1"/>
              <a:t>Hybrid CNN-LSTM architecture</a:t>
            </a:r>
            <a:r>
              <a:rPr lang="en-US" altLang="en-GB"/>
              <a:t>. CNN layers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extract spatial features, while the </a:t>
            </a:r>
            <a:r>
              <a:rPr lang="en-US" altLang="en-GB" b="1"/>
              <a:t>Bidirectional LSTM </a:t>
            </a:r>
            <a:r>
              <a:rPr lang="en-US" altLang="en-GB"/>
              <a:t>captures temporal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dependencies critical for magnitude estimation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5930"/>
            <a:ext cx="10515600" cy="572135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Models</a:t>
            </a:r>
            <a:endParaRPr lang="en-US" altLang="en-GB" b="1" u="sng"/>
          </a:p>
          <a:p>
            <a:pPr algn="just"/>
            <a:r>
              <a:rPr lang="en-US" altLang="en-GB"/>
              <a:t>Trained models with contained 1000 data sets of each with contains following data sets :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                     1. Primary waves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                     2. Secondary waves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                     3. Surface waves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                     4. Noise</a:t>
            </a:r>
            <a:endParaRPr lang="en-US" altLang="en-GB"/>
          </a:p>
          <a:p>
            <a:pPr algn="just"/>
            <a:r>
              <a:rPr lang="en-US" altLang="en-GB"/>
              <a:t>Trained for initial phase of recognizing each waves but only have 30% accuracy.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Visualization Module</a:t>
            </a:r>
            <a:endParaRPr lang="en-US" altLang="en-GB" b="1" u="sng"/>
          </a:p>
          <a:p>
            <a:pPr marL="0" indent="0">
              <a:buNone/>
            </a:pPr>
            <a:r>
              <a:rPr lang="en-US" altLang="en-GB"/>
              <a:t>•</a:t>
            </a:r>
            <a:r>
              <a:rPr lang="en-US" altLang="en-GB" b="1"/>
              <a:t> Waveform Plotting</a:t>
            </a:r>
            <a:r>
              <a:rPr lang="en-US" altLang="en-GB"/>
              <a:t>: Renders seismic traces with color-coded detection overlays.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</a:t>
            </a:r>
            <a:r>
              <a:rPr lang="en-US" altLang="en-GB" b="1"/>
              <a:t>Confidence Timeline</a:t>
            </a:r>
            <a:r>
              <a:rPr lang="en-US" altLang="en-GB"/>
              <a:t>: Displays model confidence scores over time.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</a:t>
            </a:r>
            <a:r>
              <a:rPr lang="en-US" altLang="en-GB" b="1"/>
              <a:t>Real-time Dashboard</a:t>
            </a:r>
            <a:r>
              <a:rPr lang="en-US" altLang="en-GB"/>
              <a:t>: Live updating view for monitoring active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streams.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Result and Discussion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>
              <a:buFont typeface="Wingdings" panose="05000000000000000000" charset="0"/>
              <a:buChar char="Ø"/>
            </a:pPr>
            <a:r>
              <a:rPr lang="en-US" altLang="en-GB"/>
              <a:t> </a:t>
            </a:r>
            <a:r>
              <a:rPr lang="en-US" altLang="en-GB" b="1" u="sng"/>
              <a:t>Earthquake Detection ()</a:t>
            </a:r>
            <a:endParaRPr lang="en-US" altLang="en-GB" b="1" u="sng"/>
          </a:p>
          <a:p>
            <a:pPr marL="0" indent="0" algn="just">
              <a:buNone/>
            </a:pPr>
            <a:r>
              <a:rPr lang="en-US" altLang="en-GB"/>
              <a:t>• Accuracy: 96.81%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• AUC-RUC: 99.59%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• </a:t>
            </a:r>
            <a:r>
              <a:rPr lang="en-US" altLang="en-GB" b="1"/>
              <a:t>Discussion</a:t>
            </a:r>
            <a:r>
              <a:rPr lang="en-US" altLang="en-GB"/>
              <a:t>: The high AUC score indicates the model is extremely effective at ranking earthquake signals higher than noise, even at low false positive rates.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Wave Classification (Multi-class)</a:t>
            </a:r>
            <a:endParaRPr lang="en-US" altLang="en-GB" b="1" u="sng"/>
          </a:p>
          <a:p>
            <a:pPr marL="0" indent="0">
              <a:buNone/>
            </a:pPr>
            <a:r>
              <a:rPr lang="en-US" altLang="en-GB"/>
              <a:t>• Overall Accuracy: 99.69%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Per-Class Accuracy: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–&gt; P-wave: ~99%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–&gt; S-wave: ~99%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–&gt; Surface wave: ~99%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</a:t>
            </a:r>
            <a:r>
              <a:rPr lang="en-US" altLang="en-GB" b="1"/>
              <a:t>Discussion</a:t>
            </a:r>
            <a:r>
              <a:rPr lang="en-US" altLang="en-GB"/>
              <a:t>: The attention mechanism proved crucial here, allowing the model to distinguish the subtle onset of P-waves from the higher-amplitude S-waves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4830" cy="435165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Magnitude Prediction (</a:t>
            </a:r>
            <a:r>
              <a:rPr lang="en-US" altLang="en-GB" b="1" u="sng">
                <a:sym typeface="+mn-ea"/>
              </a:rPr>
              <a:t>Hybrid Deep Learning</a:t>
            </a:r>
            <a:r>
              <a:rPr lang="en-US" altLang="en-GB" b="1" u="sng"/>
              <a:t>) </a:t>
            </a:r>
            <a:endParaRPr lang="en-US" altLang="en-GB" b="1" u="sng"/>
          </a:p>
          <a:p>
            <a:pPr marL="0" indent="0">
              <a:buFont typeface="Wingdings" panose="05000000000000000000" charset="0"/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• Mean Absolute Error (MAE): 0.37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Within </a:t>
            </a:r>
            <a:r>
              <a:rPr lang="en-US" altLang="en-US"/>
              <a:t>±</a:t>
            </a:r>
            <a:r>
              <a:rPr lang="en-US" altLang="en-GB"/>
              <a:t>0.5 Magnitude: 75.0%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Within </a:t>
            </a:r>
            <a:r>
              <a:rPr lang="en-US" altLang="en-US"/>
              <a:t>±</a:t>
            </a:r>
            <a:r>
              <a:rPr lang="en-US" altLang="en-GB"/>
              <a:t>1.0 Magnitude: 93.1%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• </a:t>
            </a:r>
            <a:r>
              <a:rPr lang="en-US" altLang="en-GB" b="1"/>
              <a:t>Discussion</a:t>
            </a:r>
            <a:r>
              <a:rPr lang="en-US" altLang="en-GB"/>
              <a:t>: Estimating magnitude from just 4 seconds of P-wave data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is challenging. An MAE of 0.37 is a strong result, providing a reliable</a:t>
            </a:r>
            <a:endParaRPr lang="en-US" altLang="en-GB"/>
          </a:p>
          <a:p>
            <a:pPr marL="0" indent="0" algn="just">
              <a:buNone/>
            </a:pPr>
            <a:r>
              <a:rPr lang="en-US" altLang="en-GB"/>
              <a:t>‘ballpark’ estimate for early warning purposes before the full seismic  event has concluded.</a:t>
            </a:r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6215"/>
            <a:ext cx="10716895" cy="598106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UI/UX Interface</a:t>
            </a:r>
            <a:endParaRPr lang="en-US" altLang="en-GB" b="1" u="sng"/>
          </a:p>
          <a:p>
            <a:r>
              <a:rPr lang="en-US" altLang="en-GB" sz="2000"/>
              <a:t>Created a clean,easy to understand and also to work with also.</a:t>
            </a:r>
            <a:endParaRPr lang="en-US" altLang="en-GB" sz="2000"/>
          </a:p>
          <a:p>
            <a:r>
              <a:rPr lang="en-US" altLang="en-GB" sz="2000"/>
              <a:t>The interface also easy visulaization of seismic waves.</a:t>
            </a:r>
            <a:endParaRPr lang="en-US" altLang="en-GB" sz="2000"/>
          </a:p>
          <a:p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 </a:t>
            </a:r>
            <a:endParaRPr lang="en-US" altLang="en-GB"/>
          </a:p>
        </p:txBody>
      </p:sp>
      <p:pic>
        <p:nvPicPr>
          <p:cNvPr id="6" name="Content Placeholder 5" descr="initial"/>
          <p:cNvPicPr>
            <a:picLocks noChangeAspect="1"/>
          </p:cNvPicPr>
          <p:nvPr>
            <p:ph sz="half" idx="2"/>
          </p:nvPr>
        </p:nvPicPr>
        <p:blipFill>
          <a:blip r:embed="rId1"/>
          <a:srcRect l="12790" r="12790"/>
          <a:stretch>
            <a:fillRect/>
          </a:stretch>
        </p:blipFill>
        <p:spPr>
          <a:xfrm>
            <a:off x="405130" y="1396365"/>
            <a:ext cx="9568815" cy="5377180"/>
          </a:xfrm>
        </p:spPr>
      </p:pic>
      <p:sp>
        <p:nvSpPr>
          <p:cNvPr id="8" name="Text Box 7"/>
          <p:cNvSpPr txBox="1"/>
          <p:nvPr/>
        </p:nvSpPr>
        <p:spPr>
          <a:xfrm>
            <a:off x="9973310" y="5278120"/>
            <a:ext cx="2150745" cy="967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Fig 1: Intial UI/UX   interface without any data/analysis</a:t>
            </a:r>
            <a:endParaRPr lang="en-US" alt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no eq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2275" y="300990"/>
            <a:ext cx="11383645" cy="59239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461385" y="6367145"/>
            <a:ext cx="540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  Fig 2: Interface after analysing file with no earthquake</a:t>
            </a:r>
            <a:endParaRPr lang="en-US" alt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with eq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1485" y="259080"/>
            <a:ext cx="11143615" cy="59366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587750" y="6325870"/>
            <a:ext cx="6848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ym typeface="+mn-ea"/>
              </a:rPr>
              <a:t>       Fig 3: Interface after analysing file with with earthquake</a:t>
            </a:r>
            <a:endParaRPr lang="en-GB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Future Plans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/>
            <a:r>
              <a:rPr lang="en-US" altLang="en-GB" b="1" u="sng"/>
              <a:t>Distributed sensing</a:t>
            </a:r>
            <a:r>
              <a:rPr lang="en-US" altLang="en-GB"/>
              <a:t>: Use consensus across geographically dispersed sensors for more precise event localization.</a:t>
            </a:r>
            <a:endParaRPr lang="en-US" altLang="en-GB"/>
          </a:p>
          <a:p>
            <a:pPr algn="just"/>
            <a:r>
              <a:rPr lang="en-US" altLang="en-GB" b="1" u="sng"/>
              <a:t>Edge AI</a:t>
            </a:r>
            <a:r>
              <a:rPr lang="en-US" altLang="en-GB"/>
              <a:t>: Deploy TensorFlow Lite models on low-power devices (Raspberry Pi, ESP32) directly connected to seismometers.</a:t>
            </a:r>
            <a:endParaRPr lang="en-US" altLang="en-GB"/>
          </a:p>
          <a:p>
            <a:pPr algn="just"/>
            <a:r>
              <a:rPr lang="en-US" altLang="en-GB" b="1" u="sng"/>
              <a:t>Transformers</a:t>
            </a:r>
            <a:r>
              <a:rPr lang="en-US" altLang="en-GB"/>
              <a:t>: Explore Transformer-based models (e.g., Earthquake Transformer) for better long-range dependencies and magnitude prediction.</a:t>
            </a:r>
            <a:endParaRPr lang="en-US" altLang="en-GB"/>
          </a:p>
          <a:p>
            <a:pPr algn="just"/>
            <a:r>
              <a:rPr lang="en-US" altLang="en-GB" b="1" u="sng"/>
              <a:t>Unsupervised learning</a:t>
            </a:r>
            <a:r>
              <a:rPr lang="en-US" altLang="en-GB"/>
              <a:t>: Add anomaly detection to capture rare or unknown seismic events outside standard patterns.</a:t>
            </a:r>
            <a:endParaRPr lang="en-US" alt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Conclusion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GB"/>
              <a:t>Improved Performance:Deep learning enhances detection, wave classification, and magnitude estimation.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Real-Time Reliability:High accuracy, low latency, and noise resilience enable faster early warnings.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Scalable Solution: Cost-effective, scalable, and extensible for modern seismic systems.</a:t>
            </a:r>
            <a:endParaRPr lang="en-US" alt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95320"/>
            <a:ext cx="10515600" cy="6959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5900">
                <a:latin typeface="Times New Roman" panose="02020603050405020304" charset="0"/>
                <a:cs typeface="Times New Roman" panose="02020603050405020304" charset="0"/>
              </a:rPr>
              <a:t>             THANK YOU</a:t>
            </a:r>
            <a:endParaRPr lang="en-US" altLang="en-GB" sz="5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7708</Words>
  <Application>WPS Presentation</Application>
  <PresentationFormat>Widescreen</PresentationFormat>
  <Paragraphs>179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SimSun</vt:lpstr>
      <vt:lpstr>Wingdings</vt:lpstr>
      <vt:lpstr>Times New Roman</vt:lpstr>
      <vt:lpstr>Calibri</vt:lpstr>
      <vt:lpstr>Wingdings</vt:lpstr>
      <vt:lpstr>Microsoft YaHei</vt:lpstr>
      <vt:lpstr>Arial Unicode MS</vt:lpstr>
      <vt:lpstr>Calibri Light</vt:lpstr>
      <vt:lpstr>Cascadia Code SemiBold</vt:lpstr>
      <vt:lpstr>Office Theme</vt:lpstr>
      <vt:lpstr> (SeismicQuake) Seismic Detection,Visualisation and Analysis</vt:lpstr>
      <vt:lpstr>CONTENTS</vt:lpstr>
      <vt:lpstr>Introduction</vt:lpstr>
      <vt:lpstr>Existing System</vt:lpstr>
      <vt:lpstr>Limitations of Existing Systems</vt:lpstr>
      <vt:lpstr>Proposed System</vt:lpstr>
      <vt:lpstr>Advantages Of Proposed System</vt:lpstr>
      <vt:lpstr>Proposed Methodology</vt:lpstr>
      <vt:lpstr>PowerPoint 演示文稿</vt:lpstr>
      <vt:lpstr>PowerPoint 演示文稿</vt:lpstr>
      <vt:lpstr>Architecture</vt:lpstr>
      <vt:lpstr>Initial Modules</vt:lpstr>
      <vt:lpstr>PowerPoint 演示文稿</vt:lpstr>
      <vt:lpstr>PowerPoint 演示文稿</vt:lpstr>
      <vt:lpstr>PowerPoint 演示文稿</vt:lpstr>
      <vt:lpstr>Result and Discussion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Future Plans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allan</dc:creator>
  <cp:lastModifiedBy>Allan shibu</cp:lastModifiedBy>
  <cp:revision>23</cp:revision>
  <dcterms:created xsi:type="dcterms:W3CDTF">2025-07-23T00:59:00Z</dcterms:created>
  <dcterms:modified xsi:type="dcterms:W3CDTF">2026-03-18T05:25:39Z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0E2F73B7F190498781D9711EA83E1A2C_13</vt:lpwstr>
  </property>
  <property fmtid="{D5CDD505-2E9C-101B-9397-08002B2CF9AE}" pid="3" name="KSOProductBuildVer">
    <vt:lpwstr>2057-12.2.0.23197</vt:lpwstr>
  </property>
</Properties>
</file>