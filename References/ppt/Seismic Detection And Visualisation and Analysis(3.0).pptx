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9" r:id="rId4"/>
    <p:sldId id="258" r:id="rId5"/>
    <p:sldId id="307" r:id="rId6"/>
    <p:sldId id="260" r:id="rId7"/>
    <p:sldId id="261" r:id="rId8"/>
    <p:sldId id="263" r:id="rId9"/>
    <p:sldId id="264" r:id="rId10"/>
    <p:sldId id="282" r:id="rId11"/>
    <p:sldId id="299" r:id="rId12"/>
    <p:sldId id="284" r:id="rId13"/>
    <p:sldId id="300" r:id="rId14"/>
    <p:sldId id="286" r:id="rId15"/>
    <p:sldId id="301" r:id="rId16"/>
    <p:sldId id="288" r:id="rId17"/>
    <p:sldId id="302" r:id="rId18"/>
    <p:sldId id="290" r:id="rId19"/>
    <p:sldId id="303" r:id="rId20"/>
    <p:sldId id="291" r:id="rId21"/>
    <p:sldId id="304" r:id="rId22"/>
    <p:sldId id="297" r:id="rId23"/>
    <p:sldId id="28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34353"/>
            <a:ext cx="9144000" cy="2387600"/>
          </a:xfrm>
        </p:spPr>
        <p:txBody>
          <a:bodyPr/>
          <a:lstStyle/>
          <a:p>
            <a:r>
              <a:rPr lang="en-US" sz="4800" b="1" dirty="0">
                <a:latin typeface="Times New Roman" panose="02020603050405020304" charset="0"/>
                <a:cs typeface="Times New Roman" panose="02020603050405020304" charset="0"/>
              </a:rPr>
              <a:t>Seismic Detection,Visualisation and Analysis</a:t>
            </a:r>
            <a:endParaRPr lang="en-US" sz="48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355"/>
            <a:ext cx="9144000" cy="2146300"/>
          </a:xfrm>
        </p:spPr>
        <p:txBody>
          <a:bodyPr>
            <a:normAutofit fontScale="90000"/>
          </a:bodyPr>
          <a:lstStyle/>
          <a:p>
            <a:pPr algn="l"/>
            <a:r>
              <a:rPr lang="en-US">
                <a:sym typeface="+mn-ea"/>
              </a:rPr>
              <a:t>GUIDED BY:                                                                                PREPARED BY:</a:t>
            </a:r>
            <a:endParaRPr lang="en-US"/>
          </a:p>
          <a:p>
            <a:pPr algn="l"/>
            <a:r>
              <a:rPr lang="en-US">
                <a:sym typeface="+mn-ea"/>
              </a:rPr>
              <a:t>PROF . JOSMY GEORGE                                                           JUSTINE BIJU PAUL</a:t>
            </a:r>
            <a:endParaRPr lang="en-US"/>
          </a:p>
          <a:p>
            <a:pPr algn="l"/>
            <a:r>
              <a:rPr lang="en-US">
                <a:sym typeface="+mn-ea"/>
              </a:rPr>
              <a:t>DEPARTMENT OF COMPUTER SCIENCE AND                      BIJIN BINOY</a:t>
            </a:r>
            <a:endParaRPr lang="en-US"/>
          </a:p>
          <a:p>
            <a:pPr algn="l"/>
            <a:r>
              <a:rPr lang="en-US">
                <a:sym typeface="+mn-ea"/>
              </a:rPr>
              <a:t>ENGINEERING                                                                           NISSA ANN SAJI </a:t>
            </a:r>
            <a:endParaRPr lang="en-US"/>
          </a:p>
          <a:p>
            <a:pPr algn="l"/>
            <a:r>
              <a:rPr lang="en-US">
                <a:sym typeface="+mn-ea"/>
              </a:rPr>
              <a:t>                                                                                                     ALLAN SHIBU KOSHY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0260"/>
          </a:xfrm>
        </p:spPr>
        <p:txBody>
          <a:bodyPr/>
          <a:p>
            <a:r>
              <a:rPr lang="en-US" altLang="en-GB"/>
              <a:t>CONTENTS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10005"/>
            <a:ext cx="10515600" cy="4867275"/>
          </a:xfrm>
        </p:spPr>
        <p:txBody>
          <a:bodyPr/>
          <a:p>
            <a:r>
              <a:rPr lang="en-US" altLang="en-GB"/>
              <a:t>Genral Introduction.</a:t>
            </a:r>
            <a:endParaRPr lang="en-US" altLang="en-GB"/>
          </a:p>
          <a:p>
            <a:r>
              <a:rPr lang="en-US" altLang="en-GB"/>
              <a:t>Literature Survey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                       &gt; Paper 1 To Paper 8: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                                1. Features.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                                2. Limitations.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                                3. Advantages of to our Project</a:t>
            </a:r>
            <a:endParaRPr lang="en-US" altLang="en-GB"/>
          </a:p>
          <a:p>
            <a:r>
              <a:rPr lang="en-US" altLang="en-GB"/>
              <a:t>Conclusion.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</a:t>
            </a:r>
            <a:endParaRPr lang="en-US" alt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General Introduction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algn="just"/>
            <a:endParaRPr lang="en-US" altLang="en-GB" sz="2400"/>
          </a:p>
          <a:p>
            <a:pPr algn="just"/>
            <a:r>
              <a:rPr lang="en-US" altLang="en-GB" sz="2400"/>
              <a:t>Earthquake detection and warning systems are designed to identify early seismic signals, assess risk, and quickly alert people and infrastructure in danger.</a:t>
            </a:r>
            <a:endParaRPr lang="en-US" altLang="en-GB" sz="2400"/>
          </a:p>
          <a:p>
            <a:pPr algn="just"/>
            <a:endParaRPr lang="en-US" altLang="en-GB" sz="2400"/>
          </a:p>
          <a:p>
            <a:pPr algn="just"/>
            <a:r>
              <a:rPr lang="en-US" altLang="en-GB" sz="2400"/>
              <a:t>These systems use real-time data from sensor networks, signal processing, and sometimes machine learning for rapid earthquake recognition.</a:t>
            </a:r>
            <a:endParaRPr lang="en-US" altLang="en-GB" sz="2400"/>
          </a:p>
          <a:p>
            <a:pPr marL="0" indent="0" algn="just">
              <a:buNone/>
            </a:pPr>
            <a:endParaRPr lang="en-US" altLang="en-GB" sz="2400"/>
          </a:p>
          <a:p>
            <a:pPr algn="just"/>
            <a:r>
              <a:rPr lang="en-US" altLang="en-GB" sz="2400"/>
              <a:t>The goal is to provide advance warning—seconds to minutes before shaking—to enable protective actions that reduce injury and damage.</a:t>
            </a:r>
            <a:endParaRPr lang="en-US" altLang="en-GB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5510" y="2484755"/>
            <a:ext cx="10515600" cy="944880"/>
          </a:xfrm>
        </p:spPr>
        <p:txBody>
          <a:bodyPr>
            <a:normAutofit fontScale="90000"/>
          </a:bodyPr>
          <a:p>
            <a:pPr marL="0" indent="0">
              <a:buNone/>
            </a:pPr>
            <a:r>
              <a:rPr lang="en-US" altLang="en-GB" sz="6600">
                <a:latin typeface="Times New Roman" panose="02020603050405020304" charset="0"/>
                <a:cs typeface="Times New Roman" panose="02020603050405020304" charset="0"/>
              </a:rPr>
              <a:t>    LITERATURE SURVEY - 2</a:t>
            </a:r>
            <a:endParaRPr lang="en-US" altLang="en-GB" sz="6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1510"/>
          </a:xfrm>
        </p:spPr>
        <p:txBody>
          <a:bodyPr>
            <a:noAutofit/>
          </a:bodyPr>
          <a:p>
            <a:r>
              <a:rPr lang="en-US" altLang="en-GB" sz="2800">
                <a:sym typeface="+mn-ea"/>
              </a:rPr>
              <a:t>Paper 1: Earthquake transformer- an attentive deep learning model for simutanous earthquake detection and phase picking</a:t>
            </a:r>
            <a:endParaRPr lang="en-US" altLang="en-GB" sz="280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97380"/>
            <a:ext cx="10515600" cy="4279900"/>
          </a:xfrm>
        </p:spPr>
        <p:txBody>
          <a:bodyPr/>
          <a:p>
            <a:pPr algn="just"/>
            <a:r>
              <a:rPr lang="en-US" altLang="en-GB" sz="2400" b="1" u="sng"/>
              <a:t>Simultaneous Detection:</a:t>
            </a:r>
            <a:r>
              <a:rPr lang="en-US" altLang="en-GB" sz="2400"/>
              <a:t> EQTransformer applies attention-based deep learning for real-time quake detection and P/S phase.</a:t>
            </a:r>
            <a:endParaRPr lang="en-US" altLang="en-GB" sz="2400"/>
          </a:p>
          <a:p>
            <a:pPr algn="just"/>
            <a:endParaRPr lang="en-US" altLang="en-GB" sz="2400"/>
          </a:p>
          <a:p>
            <a:pPr algn="just"/>
            <a:r>
              <a:rPr lang="en-US" altLang="en-GB" sz="2400" b="1" u="sng"/>
              <a:t>Performance:</a:t>
            </a:r>
            <a:r>
              <a:rPr lang="en-US" altLang="en-GB" sz="2400"/>
              <a:t> It doubles detected events and achieves analyst-level accuracy, even in noisy cases.</a:t>
            </a:r>
            <a:endParaRPr lang="en-US" altLang="en-GB" sz="2400"/>
          </a:p>
          <a:p>
            <a:pPr algn="just"/>
            <a:endParaRPr lang="en-US" altLang="en-GB" sz="2400"/>
          </a:p>
          <a:p>
            <a:pPr algn="just"/>
            <a:r>
              <a:rPr lang="en-US" altLang="en-GB" sz="2400" b="1" u="sng"/>
              <a:t>Generalization</a:t>
            </a:r>
            <a:r>
              <a:rPr lang="en-US" altLang="en-GB" sz="2400"/>
              <a:t>: Using the global STEAD dataset, it generalizes well and enables efficient, large-scale seismic monitoring.</a:t>
            </a:r>
            <a:endParaRPr lang="en-US" altLang="en-GB" sz="2400"/>
          </a:p>
        </p:txBody>
      </p:sp>
      <p:sp>
        <p:nvSpPr>
          <p:cNvPr id="4" name="Text Box 3"/>
          <p:cNvSpPr txBox="1"/>
          <p:nvPr/>
        </p:nvSpPr>
        <p:spPr>
          <a:xfrm>
            <a:off x="838200" y="1272540"/>
            <a:ext cx="10515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Authors:  William L Ellsworth,Gregory C Beroza, Nature Communications, Published in 2020</a:t>
            </a:r>
            <a:endParaRPr lang="en-US" alt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7520"/>
          </a:xfrm>
        </p:spPr>
        <p:txBody>
          <a:bodyPr>
            <a:normAutofit fontScale="90000"/>
          </a:bodyPr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54735"/>
            <a:ext cx="10515600" cy="5122545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 Limitations</a:t>
            </a:r>
            <a:endParaRPr lang="en-US" altLang="en-GB" b="1" u="sng"/>
          </a:p>
          <a:p>
            <a:r>
              <a:rPr lang="en-US" altLang="en-GB"/>
              <a:t>Sensitivity to Teleseismic Signals.</a:t>
            </a:r>
            <a:endParaRPr lang="en-US" altLang="en-GB"/>
          </a:p>
          <a:p>
            <a:r>
              <a:rPr lang="en-US" altLang="en-GB"/>
              <a:t>Portability and Noise Diversity.</a:t>
            </a:r>
            <a:endParaRPr lang="en-US" altLang="en-GB"/>
          </a:p>
          <a:p>
            <a:r>
              <a:rPr lang="en-US" altLang="en-GB"/>
              <a:t>False/Missed Alerts Beyond Station Detection.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Advantages Compared to our project</a:t>
            </a:r>
            <a:endParaRPr lang="en-US" altLang="en-GB" b="1" u="sng"/>
          </a:p>
          <a:p>
            <a:r>
              <a:rPr lang="en-US" altLang="en-GB"/>
              <a:t>Sensitivity removed.</a:t>
            </a:r>
            <a:endParaRPr lang="en-US" altLang="en-GB"/>
          </a:p>
          <a:p>
            <a:r>
              <a:rPr lang="en-US" altLang="en-GB"/>
              <a:t>Software so not need for portabilty.</a:t>
            </a:r>
            <a:endParaRPr lang="en-US" altLang="en-GB"/>
          </a:p>
          <a:p>
            <a:r>
              <a:rPr lang="en-US" altLang="en-GB"/>
              <a:t>Alert on the reading station.</a:t>
            </a:r>
            <a:endParaRPr lang="en-US" altLang="en-GB"/>
          </a:p>
          <a:p>
            <a:endParaRPr lang="en-US" alt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1510"/>
          </a:xfrm>
        </p:spPr>
        <p:txBody>
          <a:bodyPr>
            <a:noAutofit/>
          </a:bodyPr>
          <a:p>
            <a:r>
              <a:rPr lang="en-US" altLang="en-GB" sz="2800">
                <a:sym typeface="+mn-ea"/>
              </a:rPr>
              <a:t>Paper 2:  Reliable Real-time Seismic Signal /Noise Discrimination with Machine Learning</a:t>
            </a:r>
            <a:endParaRPr lang="en-US" altLang="en-GB" sz="280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97380"/>
            <a:ext cx="10515600" cy="4279900"/>
          </a:xfrm>
        </p:spPr>
        <p:txBody>
          <a:bodyPr>
            <a:normAutofit lnSpcReduction="20000"/>
          </a:bodyPr>
          <a:p>
            <a:pPr algn="just"/>
            <a:endParaRPr lang="en-US" altLang="en-GB" sz="2400" b="1" u="sng"/>
          </a:p>
          <a:p>
            <a:pPr algn="just"/>
            <a:r>
              <a:rPr lang="en-US" altLang="en-GB" sz="2400" b="1" u="sng"/>
              <a:t>Core Problem</a:t>
            </a:r>
            <a:r>
              <a:rPr lang="en-US" altLang="en-GB" sz="2400"/>
              <a:t>: Distinguishing real quakes from noise in seconds is vital for EEW but hard with traditional methods.</a:t>
            </a:r>
            <a:endParaRPr lang="en-US" altLang="en-GB" sz="2400"/>
          </a:p>
          <a:p>
            <a:pPr marL="0" indent="0" algn="just">
              <a:buNone/>
            </a:pPr>
            <a:endParaRPr lang="en-US" altLang="en-GB" sz="2400"/>
          </a:p>
          <a:p>
            <a:pPr algn="just"/>
            <a:r>
              <a:rPr lang="en-US" altLang="en-GB" sz="2400" b="1" u="sng"/>
              <a:t>Machine Learning</a:t>
            </a:r>
            <a:r>
              <a:rPr lang="en-US" altLang="en-GB" sz="2400"/>
              <a:t>: Deep models like CNNs and GAN-RF achieve &gt;99% precision/recall, cutting false and missed alerts.</a:t>
            </a:r>
            <a:endParaRPr lang="en-US" altLang="en-GB" sz="2400"/>
          </a:p>
          <a:p>
            <a:pPr algn="just"/>
            <a:endParaRPr lang="en-US" altLang="en-GB" sz="2400"/>
          </a:p>
          <a:p>
            <a:pPr algn="just"/>
            <a:r>
              <a:rPr lang="en-US" altLang="en-GB" sz="2400" b="1" u="sng"/>
              <a:t>Implications</a:t>
            </a:r>
            <a:r>
              <a:rPr lang="en-US" altLang="en-GB" sz="2400"/>
              <a:t>: These models allow faster alerts from fewer stations, remain robust in noisy settings, and scale to global networks.</a:t>
            </a:r>
            <a:endParaRPr lang="en-US" altLang="en-GB" sz="2400"/>
          </a:p>
        </p:txBody>
      </p:sp>
      <p:sp>
        <p:nvSpPr>
          <p:cNvPr id="4" name="Text Box 3"/>
          <p:cNvSpPr txBox="1"/>
          <p:nvPr/>
        </p:nvSpPr>
        <p:spPr>
          <a:xfrm>
            <a:off x="838200" y="1272540"/>
            <a:ext cx="105156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Authors:  Anshul Ramachandran, Ashwin Balakrishna, Suraj Nair, Journal Of GeoPhysical Research, Published in 2019</a:t>
            </a:r>
            <a:endParaRPr lang="en-US" alt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7520"/>
          </a:xfrm>
        </p:spPr>
        <p:txBody>
          <a:bodyPr>
            <a:normAutofit fontScale="90000"/>
          </a:bodyPr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54735"/>
            <a:ext cx="10515600" cy="5122545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 Limitations</a:t>
            </a:r>
            <a:endParaRPr lang="en-US" altLang="en-GB" b="1" u="sng"/>
          </a:p>
          <a:p>
            <a:r>
              <a:rPr lang="en-US" altLang="en-GB"/>
              <a:t>High False Positives.</a:t>
            </a:r>
            <a:endParaRPr lang="en-US" altLang="en-GB"/>
          </a:p>
          <a:p>
            <a:r>
              <a:rPr lang="en-US" altLang="en-GB"/>
              <a:t>Limited Generalization.</a:t>
            </a:r>
            <a:endParaRPr lang="en-US" altLang="en-GB"/>
          </a:p>
          <a:p>
            <a:r>
              <a:rPr lang="en-US" altLang="en-GB"/>
              <a:t>Noise Discrimination.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Advantages Compared to our project</a:t>
            </a:r>
            <a:endParaRPr lang="en-US" altLang="en-GB" b="1" u="sng"/>
          </a:p>
          <a:p>
            <a:r>
              <a:rPr lang="en-US" altLang="en-GB"/>
              <a:t>Reads all waves to reduce false positives.</a:t>
            </a:r>
            <a:endParaRPr lang="en-US" altLang="en-GB"/>
          </a:p>
          <a:p>
            <a:r>
              <a:rPr lang="en-US" altLang="en-GB"/>
              <a:t>No need for adaptability.</a:t>
            </a:r>
            <a:endParaRPr lang="en-US" altLang="en-GB"/>
          </a:p>
          <a:p>
            <a:r>
              <a:rPr lang="en-US" altLang="en-GB"/>
              <a:t>Only catches on to needed waveforms.</a:t>
            </a:r>
            <a:endParaRPr lang="en-US" alt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1510"/>
          </a:xfrm>
        </p:spPr>
        <p:txBody>
          <a:bodyPr>
            <a:noAutofit/>
          </a:bodyPr>
          <a:p>
            <a:r>
              <a:rPr lang="en-US" altLang="en-GB" sz="2800">
                <a:sym typeface="+mn-ea"/>
              </a:rPr>
              <a:t>Paper 3:  GroningenNet: Deep Learning for Low-Magnitude Earthquake</a:t>
            </a:r>
            <a:br>
              <a:rPr lang="en-US" altLang="en-GB" sz="2800">
                <a:sym typeface="+mn-ea"/>
              </a:rPr>
            </a:br>
            <a:r>
              <a:rPr lang="en-US" altLang="en-GB" sz="2800">
                <a:sym typeface="+mn-ea"/>
              </a:rPr>
              <a:t> Detection on a Multi-Level Sensor Network</a:t>
            </a:r>
            <a:endParaRPr lang="en-US" altLang="en-GB" sz="280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97380"/>
            <a:ext cx="10515600" cy="4279900"/>
          </a:xfrm>
        </p:spPr>
        <p:txBody>
          <a:bodyPr>
            <a:normAutofit lnSpcReduction="20000"/>
          </a:bodyPr>
          <a:p>
            <a:pPr algn="just"/>
            <a:r>
              <a:rPr lang="en-US" altLang="en-GB" sz="2400" b="1" u="sng"/>
              <a:t>GroningenNet + CNNs</a:t>
            </a:r>
            <a:r>
              <a:rPr lang="en-US" altLang="en-GB" sz="2400"/>
              <a:t>: Uses multi-level sensors to distinguish real low-magnitude      events  from noise via energy moveout patterns.</a:t>
            </a:r>
            <a:endParaRPr lang="en-US" altLang="en-GB" sz="2400"/>
          </a:p>
          <a:p>
            <a:pPr algn="just"/>
            <a:endParaRPr lang="en-US" altLang="en-GB" sz="2400"/>
          </a:p>
          <a:p>
            <a:pPr algn="just"/>
            <a:r>
              <a:rPr lang="en-US" altLang="en-GB" sz="2400" b="1" u="sng"/>
              <a:t>Performance</a:t>
            </a:r>
            <a:r>
              <a:rPr lang="en-US" altLang="en-GB" sz="2400"/>
              <a:t>: Outperforms STALTA and template matching with higher precision and fewer false positives.</a:t>
            </a:r>
            <a:endParaRPr lang="en-US" altLang="en-GB" sz="2400"/>
          </a:p>
          <a:p>
            <a:pPr algn="just"/>
            <a:endParaRPr lang="en-US" altLang="en-GB" sz="2400"/>
          </a:p>
          <a:p>
            <a:pPr algn="just"/>
            <a:r>
              <a:rPr lang="en-US" altLang="en-GB" sz="2400" b="1" u="sng"/>
              <a:t>Efficiency</a:t>
            </a:r>
            <a:r>
              <a:rPr lang="en-US" altLang="en-GB" sz="2400"/>
              <a:t>: Needs little labeled data due to augmentation and moveout features; adaptable to other networks</a:t>
            </a:r>
            <a:endParaRPr lang="en-US" altLang="en-GB" sz="2400"/>
          </a:p>
        </p:txBody>
      </p:sp>
      <p:sp>
        <p:nvSpPr>
          <p:cNvPr id="4" name="Text Box 3"/>
          <p:cNvSpPr txBox="1"/>
          <p:nvPr/>
        </p:nvSpPr>
        <p:spPr>
          <a:xfrm>
            <a:off x="838200" y="1272540"/>
            <a:ext cx="10515600" cy="461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/>
              <a:t>Authors: Ahmed Shaheen, Michael Fehler,  Sherif Hanafy, Sensors ,Published 2021 </a:t>
            </a:r>
            <a:endParaRPr lang="en-US" alt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7520"/>
          </a:xfrm>
        </p:spPr>
        <p:txBody>
          <a:bodyPr>
            <a:normAutofit fontScale="90000"/>
          </a:bodyPr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54735"/>
            <a:ext cx="10515600" cy="5122545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 Limitations</a:t>
            </a:r>
            <a:endParaRPr lang="en-US" altLang="en-GB" b="1" u="sng"/>
          </a:p>
          <a:p>
            <a:r>
              <a:rPr lang="en-US" altLang="en-GB"/>
              <a:t>Affected by Heavy Noises.</a:t>
            </a:r>
            <a:endParaRPr lang="en-US" altLang="en-GB"/>
          </a:p>
          <a:p>
            <a:r>
              <a:rPr lang="en-US" altLang="en-GB"/>
              <a:t>Cannot detect negative SNR signals.</a:t>
            </a:r>
            <a:endParaRPr lang="en-US" altLang="en-GB"/>
          </a:p>
          <a:p>
            <a:r>
              <a:rPr lang="en-US" altLang="en-GB"/>
              <a:t>Depends on multi-level sensor availability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Advantages Compared to our project</a:t>
            </a:r>
            <a:endParaRPr lang="en-US" altLang="en-GB" b="1" u="sng"/>
          </a:p>
          <a:p>
            <a:r>
              <a:rPr lang="en-US" altLang="en-GB"/>
              <a:t>No need for extra data.</a:t>
            </a:r>
            <a:endParaRPr lang="en-US" altLang="en-GB"/>
          </a:p>
          <a:p>
            <a:r>
              <a:rPr lang="en-US" altLang="en-GB"/>
              <a:t>Detect Negative SNR signals.</a:t>
            </a:r>
            <a:endParaRPr lang="en-US" altLang="en-GB"/>
          </a:p>
          <a:p>
            <a:r>
              <a:rPr lang="en-US" altLang="en-GB"/>
              <a:t>No need for sensor.</a:t>
            </a:r>
            <a:endParaRPr lang="en-US" alt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1510"/>
          </a:xfrm>
        </p:spPr>
        <p:txBody>
          <a:bodyPr>
            <a:noAutofit/>
          </a:bodyPr>
          <a:p>
            <a:r>
              <a:rPr lang="en-US" altLang="en-GB" sz="2800">
                <a:sym typeface="+mn-ea"/>
              </a:rPr>
              <a:t>Paper 4:  Deep Learning models for regional phase detection on seismic stations in Northern Europe and European Arctic</a:t>
            </a:r>
            <a:endParaRPr lang="en-US" altLang="en-GB" sz="280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97380"/>
            <a:ext cx="10515600" cy="4279900"/>
          </a:xfrm>
        </p:spPr>
        <p:txBody>
          <a:bodyPr>
            <a:normAutofit lnSpcReduction="20000"/>
          </a:bodyPr>
          <a:p>
            <a:pPr algn="just"/>
            <a:endParaRPr lang="en-US" altLang="en-GB" sz="2400" b="1" u="sng"/>
          </a:p>
          <a:p>
            <a:pPr algn="just"/>
            <a:r>
              <a:rPr lang="en-US" altLang="en-GB" sz="2400" b="1" u="sng"/>
              <a:t>Dataset</a:t>
            </a:r>
            <a:r>
              <a:rPr lang="en-US" altLang="en-GB" sz="2400"/>
              <a:t>: 151,000 multi-component waveforms from Northern Europe and the Arctic for regional phase detection and classification.</a:t>
            </a:r>
            <a:endParaRPr lang="en-US" altLang="en-GB" sz="2400"/>
          </a:p>
          <a:p>
            <a:pPr algn="just"/>
            <a:endParaRPr lang="en-US" altLang="en-GB" sz="2400"/>
          </a:p>
          <a:p>
            <a:pPr algn="just"/>
            <a:r>
              <a:rPr lang="en-US" altLang="en-GB" sz="2400" b="1" u="sng"/>
              <a:t>Model</a:t>
            </a:r>
            <a:r>
              <a:rPr lang="en-US" altLang="en-GB" sz="2400"/>
              <a:t>: Introduces TPhaseNet (PhaseNet with transformer blocks) achieving best precision, recall, and timing accuracy over PhaseNet, EQTransformer, and EPick.</a:t>
            </a:r>
            <a:endParaRPr lang="en-US" altLang="en-GB" sz="2400"/>
          </a:p>
          <a:p>
            <a:pPr algn="just"/>
            <a:endParaRPr lang="en-US" altLang="en-GB" sz="2400"/>
          </a:p>
          <a:p>
            <a:pPr algn="just"/>
            <a:r>
              <a:rPr lang="en-US" altLang="en-GB" sz="2400" b="1" u="sng"/>
              <a:t>Performance</a:t>
            </a:r>
            <a:r>
              <a:rPr lang="en-US" altLang="en-GB" sz="2400"/>
              <a:t>: On continuous data, TPhaseNet shows better detection and fewer false alarms than the ARCES array detector, improving regional seismic and nuclear test monitoring.</a:t>
            </a:r>
            <a:endParaRPr lang="en-US" altLang="en-GB" sz="2400"/>
          </a:p>
        </p:txBody>
      </p:sp>
      <p:sp>
        <p:nvSpPr>
          <p:cNvPr id="4" name="Text Box 3"/>
          <p:cNvSpPr txBox="1"/>
          <p:nvPr/>
        </p:nvSpPr>
        <p:spPr>
          <a:xfrm>
            <a:off x="838200" y="1272540"/>
            <a:ext cx="10515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Authors: Erik B. Myklebust  and Andreas Kohler</a:t>
            </a:r>
            <a:r>
              <a:rPr lang="en-US" altLang="en-GB"/>
              <a:t> </a:t>
            </a:r>
            <a:r>
              <a:rPr lang="en-US" altLang="en-GB"/>
              <a:t> , Journal Of GeoPhysical Research, Published in 2023</a:t>
            </a:r>
            <a:endParaRPr lang="en-US" alt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7520"/>
          </a:xfrm>
        </p:spPr>
        <p:txBody>
          <a:bodyPr>
            <a:normAutofit fontScale="90000"/>
          </a:bodyPr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54735"/>
            <a:ext cx="10515600" cy="5122545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 Limitations</a:t>
            </a:r>
            <a:endParaRPr lang="en-US" altLang="en-GB" b="1" u="sng"/>
          </a:p>
          <a:p>
            <a:r>
              <a:rPr lang="en-US" altLang="en-GB"/>
              <a:t>Generalization issue.</a:t>
            </a:r>
            <a:endParaRPr lang="en-US" altLang="en-GB"/>
          </a:p>
          <a:p>
            <a:r>
              <a:rPr lang="en-US" altLang="en-GB"/>
              <a:t>Data Quality.</a:t>
            </a:r>
            <a:endParaRPr lang="en-US" altLang="en-GB"/>
          </a:p>
          <a:p>
            <a:r>
              <a:rPr lang="en-US" altLang="en-GB"/>
              <a:t>Scope.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Advantages Compared to our project</a:t>
            </a:r>
            <a:endParaRPr lang="en-US" altLang="en-GB" b="1" u="sng"/>
          </a:p>
          <a:p>
            <a:r>
              <a:rPr lang="en-US" altLang="en-GB"/>
              <a:t>No unbiase for stations.</a:t>
            </a:r>
            <a:endParaRPr lang="en-US" altLang="en-GB"/>
          </a:p>
          <a:p>
            <a:r>
              <a:rPr lang="en-US" altLang="en-GB"/>
              <a:t>Pre trained Data Sets.</a:t>
            </a:r>
            <a:endParaRPr lang="en-US" altLang="en-GB"/>
          </a:p>
          <a:p>
            <a:r>
              <a:rPr lang="en-US" altLang="en-GB"/>
              <a:t>Not Limited P&amp;S Waves.</a:t>
            </a:r>
            <a:endParaRPr lang="en-US" altLang="en-GB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1510"/>
          </a:xfrm>
        </p:spPr>
        <p:txBody>
          <a:bodyPr>
            <a:noAutofit/>
          </a:bodyPr>
          <a:p>
            <a:r>
              <a:rPr lang="en-US" altLang="en-GB" sz="2800">
                <a:sym typeface="+mn-ea"/>
              </a:rPr>
              <a:t>Paper 5: Small earthquake location via machine learning with insufficient data  </a:t>
            </a:r>
            <a:endParaRPr lang="en-US" altLang="en-GB" sz="280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97380"/>
            <a:ext cx="10515600" cy="4279900"/>
          </a:xfrm>
        </p:spPr>
        <p:txBody>
          <a:bodyPr>
            <a:normAutofit lnSpcReduction="20000"/>
          </a:bodyPr>
          <a:p>
            <a:pPr algn="just"/>
            <a:endParaRPr lang="en-US" altLang="en-GB" sz="2400" b="1" u="sng"/>
          </a:p>
          <a:p>
            <a:pPr algn="just"/>
            <a:r>
              <a:rPr lang="en-US" altLang="en-GB" sz="2400" b="1" u="sng"/>
              <a:t>Neural networks (DisNet &amp; AziNet)</a:t>
            </a:r>
            <a:r>
              <a:rPr lang="en-US" altLang="en-GB" sz="2400"/>
              <a:t>: Enable fast, single-station earthquake localization without clear phase picks or high SNR.</a:t>
            </a:r>
            <a:endParaRPr lang="en-US" altLang="en-GB" sz="2400"/>
          </a:p>
          <a:p>
            <a:pPr algn="just"/>
            <a:endParaRPr lang="en-US" altLang="en-GB" sz="2400"/>
          </a:p>
          <a:p>
            <a:pPr algn="just"/>
            <a:r>
              <a:rPr lang="en-US" altLang="en-GB" sz="2400" b="1" u="sng"/>
              <a:t>Workflow</a:t>
            </a:r>
            <a:r>
              <a:rPr lang="en-US" altLang="en-GB" sz="2400"/>
              <a:t>: Combines Earthquake Transformer, STALTA, and clustering—detects 1.4</a:t>
            </a:r>
            <a:r>
              <a:rPr lang="en-US" altLang="en-US" sz="2400"/>
              <a:t>×</a:t>
            </a:r>
            <a:r>
              <a:rPr lang="en-US" altLang="en-GB" sz="2400"/>
              <a:t> more events than standard catalogs.</a:t>
            </a:r>
            <a:endParaRPr lang="en-US" altLang="en-GB" sz="2400"/>
          </a:p>
          <a:p>
            <a:pPr algn="just"/>
            <a:endParaRPr lang="en-US" altLang="en-GB" sz="2400"/>
          </a:p>
          <a:p>
            <a:pPr algn="just"/>
            <a:r>
              <a:rPr lang="en-US" altLang="en-GB" sz="2400" b="1" u="sng"/>
              <a:t>Performance</a:t>
            </a:r>
            <a:r>
              <a:rPr lang="en-US" altLang="en-GB" sz="2400"/>
              <a:t>: Achieves 3–6 km distance and 22–36</a:t>
            </a:r>
            <a:r>
              <a:rPr lang="en-US" altLang="en-US" sz="2400"/>
              <a:t>°</a:t>
            </a:r>
            <a:r>
              <a:rPr lang="en-US" altLang="en-GB" sz="2400"/>
              <a:t> azimuth error; effective for low-SNR, sparse data.</a:t>
            </a:r>
            <a:endParaRPr lang="en-US" altLang="en-GB" sz="2400"/>
          </a:p>
        </p:txBody>
      </p:sp>
      <p:sp>
        <p:nvSpPr>
          <p:cNvPr id="4" name="Text Box 3"/>
          <p:cNvSpPr txBox="1"/>
          <p:nvPr/>
        </p:nvSpPr>
        <p:spPr>
          <a:xfrm>
            <a:off x="838200" y="1272540"/>
            <a:ext cx="10515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Authors:   Ji Zhang, Aitaro Kato, Huiyu Zhu and Jie Zhang , Springer, Published in 2025</a:t>
            </a:r>
            <a:endParaRPr lang="en-US" altLang="en-GB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7520"/>
          </a:xfrm>
        </p:spPr>
        <p:txBody>
          <a:bodyPr>
            <a:normAutofit fontScale="90000"/>
          </a:bodyPr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54735"/>
            <a:ext cx="10515600" cy="5122545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 Limitations</a:t>
            </a:r>
            <a:endParaRPr lang="en-US" altLang="en-GB" b="1" u="sng"/>
          </a:p>
          <a:p>
            <a:r>
              <a:rPr lang="en-US" altLang="en-GB"/>
              <a:t>May merge or split nearby events due to fixed windows.</a:t>
            </a:r>
            <a:endParaRPr lang="en-US" altLang="en-GB"/>
          </a:p>
          <a:p>
            <a:r>
              <a:rPr lang="en-US" altLang="en-GB"/>
              <a:t>Ignores depth and has less accurate azimuths for distant/noisy signals.</a:t>
            </a:r>
            <a:endParaRPr lang="en-US" altLang="en-GB"/>
          </a:p>
          <a:p>
            <a:r>
              <a:rPr lang="en-US" altLang="en-GB"/>
              <a:t>Less effective for large earthquakes or dense networks.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Advantages Compared to our project</a:t>
            </a:r>
            <a:endParaRPr lang="en-US" altLang="en-GB" b="1" u="sng"/>
          </a:p>
          <a:p>
            <a:r>
              <a:rPr lang="en-US" altLang="en-GB"/>
              <a:t>No need for split events.</a:t>
            </a:r>
            <a:endParaRPr lang="en-US" altLang="en-GB"/>
          </a:p>
          <a:p>
            <a:r>
              <a:rPr lang="en-US" altLang="en-GB"/>
              <a:t>No noisy signals.</a:t>
            </a:r>
            <a:endParaRPr lang="en-US" altLang="en-GB"/>
          </a:p>
          <a:p>
            <a:r>
              <a:rPr lang="en-US" altLang="en-GB"/>
              <a:t>Reads all kind of earthquake.</a:t>
            </a:r>
            <a:endParaRPr lang="en-US" altLang="en-GB"/>
          </a:p>
          <a:p>
            <a:endParaRPr lang="en-US" altLang="en-GB"/>
          </a:p>
          <a:p>
            <a:endParaRPr lang="en-US" altLang="en-GB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1510"/>
          </a:xfrm>
        </p:spPr>
        <p:txBody>
          <a:bodyPr>
            <a:noAutofit/>
          </a:bodyPr>
          <a:p>
            <a:r>
              <a:rPr lang="en-US" altLang="en-GB" sz="2400">
                <a:sym typeface="+mn-ea"/>
              </a:rPr>
              <a:t>Paper 6:  OBSTransformer: A Deep-Learning Seismic Phase Picker for OBS Data </a:t>
            </a:r>
            <a:br>
              <a:rPr lang="en-US" altLang="en-GB" sz="2400">
                <a:sym typeface="+mn-ea"/>
              </a:rPr>
            </a:br>
            <a:r>
              <a:rPr lang="en-US" altLang="en-GB" sz="2400">
                <a:sym typeface="+mn-ea"/>
              </a:rPr>
              <a:t>Using Automated Labelling and Transfer Learning</a:t>
            </a:r>
            <a:endParaRPr lang="en-US" altLang="en-GB" sz="240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97380"/>
            <a:ext cx="10515600" cy="4279900"/>
          </a:xfrm>
        </p:spPr>
        <p:txBody>
          <a:bodyPr>
            <a:normAutofit lnSpcReduction="20000"/>
          </a:bodyPr>
          <a:p>
            <a:pPr algn="just"/>
            <a:endParaRPr lang="en-US" altLang="en-GB" sz="2400" b="1" u="sng"/>
          </a:p>
          <a:p>
            <a:pPr algn="just"/>
            <a:r>
              <a:rPr lang="en-US" altLang="en-GB" sz="2400" b="1" u="sng"/>
              <a:t>OBSTransformer (OBST)</a:t>
            </a:r>
            <a:r>
              <a:rPr lang="en-US" altLang="en-GB" sz="2400"/>
              <a:t>: Adapted from EqTransformer, retrained on a global OBS dataset with 36k earthquake and 25k noise samples labeled via an automatic multi-model consensus method.</a:t>
            </a:r>
            <a:endParaRPr lang="en-US" altLang="en-GB" sz="2400"/>
          </a:p>
          <a:p>
            <a:pPr algn="just"/>
            <a:endParaRPr lang="en-US" altLang="en-GB" sz="2400"/>
          </a:p>
          <a:p>
            <a:pPr algn="just"/>
            <a:r>
              <a:rPr lang="en-US" altLang="en-GB" sz="2400" b="1" u="sng"/>
              <a:t>Performance</a:t>
            </a:r>
            <a:r>
              <a:rPr lang="en-US" altLang="en-GB" sz="2400"/>
              <a:t>: Outperforms EqTransformer and baselines in P/S phase detection under noisy marine conditions, with higher recall across distances and depths.</a:t>
            </a:r>
            <a:endParaRPr lang="en-US" altLang="en-GB" sz="2400"/>
          </a:p>
          <a:p>
            <a:pPr algn="just"/>
            <a:endParaRPr lang="en-US" altLang="en-GB" sz="2400"/>
          </a:p>
          <a:p>
            <a:pPr algn="just"/>
            <a:r>
              <a:rPr lang="en-US" altLang="en-GB" sz="2400"/>
              <a:t>Uses automated labeling (reducing manual bias) and real OBS noise for realistic augmentation, improving adaptability and accuracy for marine seismic networks.</a:t>
            </a:r>
            <a:endParaRPr lang="en-US" altLang="en-GB" sz="2400"/>
          </a:p>
        </p:txBody>
      </p:sp>
      <p:sp>
        <p:nvSpPr>
          <p:cNvPr id="4" name="Text Box 3"/>
          <p:cNvSpPr txBox="1"/>
          <p:nvPr/>
        </p:nvSpPr>
        <p:spPr>
          <a:xfrm>
            <a:off x="838200" y="1272540"/>
            <a:ext cx="10515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Authors:  Alireza Niksejel, Miao Zhang, Oxford Academic, Published in 2023</a:t>
            </a:r>
            <a:endParaRPr lang="en-US" altLang="en-GB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7520"/>
          </a:xfrm>
        </p:spPr>
        <p:txBody>
          <a:bodyPr>
            <a:normAutofit fontScale="90000"/>
          </a:bodyPr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54735"/>
            <a:ext cx="10515600" cy="5122545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 Limitations</a:t>
            </a:r>
            <a:endParaRPr lang="en-US" altLang="en-GB" b="1" u="sng"/>
          </a:p>
          <a:p>
            <a:r>
              <a:rPr lang="en-US" altLang="en-GB"/>
              <a:t>Smaller precision gains.</a:t>
            </a:r>
            <a:endParaRPr lang="en-US" altLang="en-GB"/>
          </a:p>
          <a:p>
            <a:r>
              <a:rPr lang="en-US" altLang="en-GB"/>
              <a:t>Accuracy varies.</a:t>
            </a:r>
            <a:endParaRPr lang="en-US" altLang="en-GB"/>
          </a:p>
          <a:p>
            <a:r>
              <a:rPr lang="en-US" altLang="en-GB"/>
              <a:t>Relies on Traditional Readings.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Advantages Compared to our project</a:t>
            </a:r>
            <a:endParaRPr lang="en-US" altLang="en-GB" b="1" u="sng"/>
          </a:p>
          <a:p>
            <a:r>
              <a:rPr lang="en-US" altLang="en-GB"/>
              <a:t>Reads all type of waves.</a:t>
            </a:r>
            <a:endParaRPr lang="en-US" altLang="en-GB"/>
          </a:p>
          <a:p>
            <a:r>
              <a:rPr lang="en-US" altLang="en-GB"/>
              <a:t>Fixed reading on all Data.</a:t>
            </a:r>
            <a:endParaRPr lang="en-US" altLang="en-GB"/>
          </a:p>
          <a:p>
            <a:r>
              <a:rPr lang="en-US" altLang="en-GB"/>
              <a:t>Doesnt rely on traditional readings.</a:t>
            </a:r>
            <a:endParaRPr lang="en-US" altLang="en-GB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1510"/>
          </a:xfrm>
        </p:spPr>
        <p:txBody>
          <a:bodyPr>
            <a:noAutofit/>
          </a:bodyPr>
          <a:p>
            <a:r>
              <a:rPr lang="en-US" altLang="en-GB" sz="2400">
                <a:sym typeface="+mn-ea"/>
              </a:rPr>
              <a:t>Paper 7: Real-time Earthquake Early Warning with Deep Learning: Application to </a:t>
            </a:r>
            <a:br>
              <a:rPr lang="en-US" altLang="en-GB" sz="2400">
                <a:sym typeface="+mn-ea"/>
              </a:rPr>
            </a:br>
            <a:r>
              <a:rPr lang="en-US" altLang="en-GB" sz="2400">
                <a:sym typeface="+mn-ea"/>
              </a:rPr>
              <a:t>the 2016 Central Apennines, Italy Earthquake Sequence</a:t>
            </a:r>
            <a:endParaRPr lang="en-US" altLang="en-GB" sz="240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97380"/>
            <a:ext cx="10515600" cy="4279900"/>
          </a:xfrm>
        </p:spPr>
        <p:txBody>
          <a:bodyPr>
            <a:normAutofit lnSpcReduction="20000"/>
          </a:bodyPr>
          <a:p>
            <a:pPr algn="just"/>
            <a:endParaRPr lang="en-US" altLang="en-GB" sz="2400" b="1" u="sng"/>
          </a:p>
          <a:p>
            <a:pPr algn="just"/>
            <a:r>
              <a:rPr lang="en-US" altLang="en-GB" sz="2400" b="1" u="sng"/>
              <a:t>Dual-branch FCN</a:t>
            </a:r>
            <a:r>
              <a:rPr lang="en-US" altLang="en-GB" sz="2400"/>
              <a:t>: Directly maps full waveforms from 12 stations to estimate earthquake location and magnitude, eliminating phase picking.</a:t>
            </a:r>
            <a:endParaRPr lang="en-US" altLang="en-GB" sz="2400"/>
          </a:p>
          <a:p>
            <a:pPr algn="just"/>
            <a:endParaRPr lang="en-US" altLang="en-GB" sz="2400"/>
          </a:p>
          <a:p>
            <a:pPr algn="just"/>
            <a:r>
              <a:rPr lang="en-US" altLang="en-GB" sz="2400" b="1" u="sng"/>
              <a:t>Speed &amp; Accuracy</a:t>
            </a:r>
            <a:r>
              <a:rPr lang="en-US" altLang="en-GB" sz="2400"/>
              <a:t>: Determines source parameters within 4 seconds of the first P wave; 6–9 km location error and &lt;0.3 magnitude error.</a:t>
            </a:r>
            <a:endParaRPr lang="en-US" altLang="en-GB" sz="2400"/>
          </a:p>
          <a:p>
            <a:pPr algn="just"/>
            <a:endParaRPr lang="en-US" altLang="en-GB" sz="2400"/>
          </a:p>
          <a:p>
            <a:pPr algn="just"/>
            <a:r>
              <a:rPr lang="en-US" altLang="en-GB" sz="2400" b="1" u="sng"/>
              <a:t>Performance</a:t>
            </a:r>
            <a:r>
              <a:rPr lang="en-US" altLang="en-GB" sz="2400"/>
              <a:t>: Detects nearly all M ≥ 3.5 events, works well for small and large quakes, and offers faster, more reliable EEW than traditional methods.</a:t>
            </a:r>
            <a:endParaRPr lang="en-US" altLang="en-GB" sz="2400"/>
          </a:p>
        </p:txBody>
      </p:sp>
      <p:sp>
        <p:nvSpPr>
          <p:cNvPr id="4" name="Text Box 3"/>
          <p:cNvSpPr txBox="1"/>
          <p:nvPr/>
        </p:nvSpPr>
        <p:spPr>
          <a:xfrm>
            <a:off x="838200" y="1272540"/>
            <a:ext cx="10515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Authors:  Xiong Zhang, Miao Zhang, Xiao Tian, Geophysical Research Letter Published in 2020</a:t>
            </a:r>
            <a:endParaRPr lang="en-US" altLang="en-GB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7520"/>
          </a:xfrm>
        </p:spPr>
        <p:txBody>
          <a:bodyPr>
            <a:normAutofit fontScale="90000"/>
          </a:bodyPr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54735"/>
            <a:ext cx="10515600" cy="5122545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 Limitations</a:t>
            </a:r>
            <a:endParaRPr lang="en-US" altLang="en-GB" b="1" u="sng"/>
          </a:p>
          <a:p>
            <a:r>
              <a:rPr lang="en-US" altLang="en-GB"/>
              <a:t>May confuse closely timed quakes (&lt;30 s apart).</a:t>
            </a:r>
            <a:endParaRPr lang="en-US" altLang="en-GB"/>
          </a:p>
          <a:p>
            <a:r>
              <a:rPr lang="en-US" altLang="en-GB"/>
              <a:t>Underestimates large events</a:t>
            </a:r>
            <a:endParaRPr lang="en-US" altLang="en-GB"/>
          </a:p>
          <a:p>
            <a:r>
              <a:rPr lang="en-US" altLang="en-GB"/>
              <a:t>Not Accurate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Advantages Compared to our project</a:t>
            </a:r>
            <a:endParaRPr lang="en-US" altLang="en-GB" b="1" u="sng"/>
          </a:p>
          <a:p>
            <a:r>
              <a:rPr lang="en-US" altLang="en-GB"/>
              <a:t>Clear classificaton between activities.</a:t>
            </a:r>
            <a:endParaRPr lang="en-US" altLang="en-GB"/>
          </a:p>
          <a:p>
            <a:r>
              <a:rPr lang="en-US" altLang="en-GB"/>
              <a:t>Looks for all type of events.</a:t>
            </a:r>
            <a:endParaRPr lang="en-US" altLang="en-GB"/>
          </a:p>
          <a:p>
            <a:r>
              <a:rPr lang="en-US" altLang="en-GB"/>
              <a:t>Accuracy increases.</a:t>
            </a:r>
            <a:endParaRPr lang="en-US" altLang="en-GB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1510"/>
          </a:xfrm>
        </p:spPr>
        <p:txBody>
          <a:bodyPr>
            <a:noAutofit/>
          </a:bodyPr>
          <a:p>
            <a:r>
              <a:rPr lang="en-US" altLang="en-GB" sz="2800">
                <a:sym typeface="+mn-ea"/>
              </a:rPr>
              <a:t>Paper 8: Seismic-phase detection using multiple deep Learning models for global and local representations of waveforms</a:t>
            </a:r>
            <a:endParaRPr lang="en-US" altLang="en-GB" sz="280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97380"/>
            <a:ext cx="10515600" cy="4279900"/>
          </a:xfrm>
        </p:spPr>
        <p:txBody>
          <a:bodyPr>
            <a:normAutofit lnSpcReduction="20000"/>
          </a:bodyPr>
          <a:p>
            <a:pPr algn="just"/>
            <a:endParaRPr lang="en-US" altLang="en-GB" sz="2400" b="1" u="sng"/>
          </a:p>
          <a:p>
            <a:pPr algn="just"/>
            <a:r>
              <a:rPr lang="en-US" altLang="en-GB" sz="2400" b="1" u="sng"/>
              <a:t>Deep learning method</a:t>
            </a:r>
            <a:r>
              <a:rPr lang="en-US" altLang="en-GB" sz="2400"/>
              <a:t>: Separates and learns global (whole waveform) and local (subsections) features using multiple CNNs per data window.</a:t>
            </a:r>
            <a:endParaRPr lang="en-US" altLang="en-GB" sz="2400"/>
          </a:p>
          <a:p>
            <a:pPr algn="just"/>
            <a:endParaRPr lang="en-US" altLang="en-GB" sz="2400"/>
          </a:p>
          <a:p>
            <a:pPr algn="just"/>
            <a:r>
              <a:rPr lang="en-US" altLang="en-GB" sz="2400" b="1" u="sng"/>
              <a:t>Fusion approach</a:t>
            </a:r>
            <a:r>
              <a:rPr lang="en-US" altLang="en-GB" sz="2400"/>
              <a:t>: Combines outputs of global and local models for robust phase detection, improving resistance to noise and data contamination.</a:t>
            </a:r>
            <a:endParaRPr lang="en-US" altLang="en-GB" sz="2400"/>
          </a:p>
          <a:p>
            <a:pPr algn="just"/>
            <a:endParaRPr lang="en-US" altLang="en-GB" sz="2400"/>
          </a:p>
          <a:p>
            <a:pPr algn="just"/>
            <a:r>
              <a:rPr lang="en-US" altLang="en-GB" sz="2400" b="1" u="sng"/>
              <a:t>Performance</a:t>
            </a:r>
            <a:r>
              <a:rPr lang="en-US" altLang="en-GB" sz="2400"/>
              <a:t>: Validated on benchmark and real-world datasets, showing higher accuracy under noisy conditions and effective LFE detection via the local model.</a:t>
            </a:r>
            <a:endParaRPr lang="en-US" altLang="en-GB" sz="2400"/>
          </a:p>
        </p:txBody>
      </p:sp>
      <p:sp>
        <p:nvSpPr>
          <p:cNvPr id="4" name="Text Box 3"/>
          <p:cNvSpPr txBox="1"/>
          <p:nvPr/>
        </p:nvSpPr>
        <p:spPr>
          <a:xfrm>
            <a:off x="838200" y="1272540"/>
            <a:ext cx="10515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Authors:  Tomoki Hokuda and Hiromichi Nagao ,GeoPhysical Journal International , Published in 2023</a:t>
            </a:r>
            <a:endParaRPr lang="en-US" altLang="en-GB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7520"/>
          </a:xfrm>
        </p:spPr>
        <p:txBody>
          <a:bodyPr>
            <a:normAutofit fontScale="90000"/>
          </a:bodyPr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54735"/>
            <a:ext cx="10515600" cy="5122545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 Limitations</a:t>
            </a:r>
            <a:endParaRPr lang="en-US" altLang="en-GB" b="1" u="sng"/>
          </a:p>
          <a:p>
            <a:r>
              <a:rPr lang="en-US" altLang="en-GB"/>
              <a:t>Uncatalogued events.</a:t>
            </a:r>
            <a:endParaRPr lang="en-US" altLang="en-GB"/>
          </a:p>
          <a:p>
            <a:r>
              <a:rPr lang="en-US" altLang="en-GB"/>
              <a:t>Fixed preprocessing.</a:t>
            </a:r>
            <a:endParaRPr lang="en-US" altLang="en-GB"/>
          </a:p>
          <a:p>
            <a:r>
              <a:rPr lang="en-US" altLang="en-GB"/>
              <a:t>Single-station LFE testing limits.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Advantages Compared to our project</a:t>
            </a:r>
            <a:endParaRPr lang="en-US" altLang="en-GB" b="1" u="sng"/>
          </a:p>
          <a:p>
            <a:r>
              <a:rPr lang="en-US" altLang="en-GB"/>
              <a:t>All events are cataloged.</a:t>
            </a:r>
            <a:endParaRPr lang="en-US" altLang="en-GB"/>
          </a:p>
          <a:p>
            <a:r>
              <a:rPr lang="en-US" altLang="en-GB"/>
              <a:t>Flexible Preprocessing.</a:t>
            </a:r>
            <a:endParaRPr lang="en-US" altLang="en-GB"/>
          </a:p>
          <a:p>
            <a:r>
              <a:rPr lang="en-US" altLang="en-GB"/>
              <a:t>Read across multiple stations.</a:t>
            </a:r>
            <a:endParaRPr lang="en-US" altLang="en-GB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CONCLUSION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GB"/>
              <a:t>Deep learning greatly enhances speed, accuracy, and noise discrimination in seismic detection and phase picking over traditional methods.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Enables real-time monitoring, faster alerts, and robust detection even in noisy or sparse networks, including global and marine systems.</a:t>
            </a:r>
            <a:endParaRPr lang="en-US" altLang="en-GB"/>
          </a:p>
          <a:p>
            <a:pPr marL="0" indent="0">
              <a:buNone/>
            </a:pPr>
            <a:endParaRPr lang="en-US" altLang="en-GB"/>
          </a:p>
          <a:p>
            <a:r>
              <a:rPr lang="en-US" altLang="en-GB"/>
              <a:t>Despite some data quality and misclassification limits, it represents a major step toward precise, automated earthquake detection and visualization.</a:t>
            </a:r>
            <a:endParaRPr lang="en-US" altLang="en-GB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195320"/>
            <a:ext cx="10515600" cy="69596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GB" sz="5900">
                <a:latin typeface="Times New Roman" panose="02020603050405020304" charset="0"/>
                <a:cs typeface="Times New Roman" panose="02020603050405020304" charset="0"/>
              </a:rPr>
              <a:t>             THANK YOU</a:t>
            </a:r>
            <a:endParaRPr lang="en-US" altLang="en-GB" sz="59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8261</Words>
  <Application>WPS Presentation</Application>
  <PresentationFormat>Widescreen</PresentationFormat>
  <Paragraphs>194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2" baseType="lpstr">
      <vt:lpstr>Arial</vt:lpstr>
      <vt:lpstr>SimSun</vt:lpstr>
      <vt:lpstr>Wingdings</vt:lpstr>
      <vt:lpstr>Times New Roman</vt:lpstr>
      <vt:lpstr>Wingdings</vt:lpstr>
      <vt:lpstr>Calibri</vt:lpstr>
      <vt:lpstr>Microsoft YaHei</vt:lpstr>
      <vt:lpstr>Arial Unicode MS</vt:lpstr>
      <vt:lpstr>Calibri Light</vt:lpstr>
      <vt:lpstr>Office Theme</vt:lpstr>
      <vt:lpstr>Seismic Detection And Visualisation and Analysis</vt:lpstr>
      <vt:lpstr>CONTENTS</vt:lpstr>
      <vt:lpstr>General Introduction</vt:lpstr>
      <vt:lpstr>PowerPoint 演示文稿</vt:lpstr>
      <vt:lpstr>Paper 1: Earthquake transformer- an attentive deep learning model for simutanous earthquake detection and phase picking</vt:lpstr>
      <vt:lpstr>PowerPoint 演示文稿</vt:lpstr>
      <vt:lpstr>Paper 2:  Reliable Real-time Seismic Signal /Noise Discrimination with Machine Learning</vt:lpstr>
      <vt:lpstr>PowerPoint 演示文稿</vt:lpstr>
      <vt:lpstr>Paper 3:  GroningenNet: Deep Learning for Low-Magnitude Earthquake  Detection on a Multi-Level Sensor Network</vt:lpstr>
      <vt:lpstr>PowerPoint 演示文稿</vt:lpstr>
      <vt:lpstr>Paper 4:  Deep Learning models for regional phase detection on seismic stations in Northern Europe and European Arctic</vt:lpstr>
      <vt:lpstr>PowerPoint 演示文稿</vt:lpstr>
      <vt:lpstr>Paper 5: Small earthquake location via machine learning with insufficient data  </vt:lpstr>
      <vt:lpstr>PowerPoint 演示文稿</vt:lpstr>
      <vt:lpstr>Paper 6:  OBSTransformer: A Deep-Learning Seismic Phase Picker for OBS Data  Using Automated Labelling and Transfer Learning</vt:lpstr>
      <vt:lpstr>PowerPoint 演示文稿</vt:lpstr>
      <vt:lpstr>Paper 7: Real-time Earthquake Early Warning with Deep Learning: Application to  the 2016 Central Apennines, Italy Earthquake Sequence</vt:lpstr>
      <vt:lpstr>PowerPoint 演示文稿</vt:lpstr>
      <vt:lpstr>Paper 8: Seismic-phase detection using multiple deep Learning models for global and local representations of waveforms</vt:lpstr>
      <vt:lpstr>PowerPoint 演示文稿</vt:lpstr>
      <vt:lpstr>CONCLUSION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Allan shibu</cp:lastModifiedBy>
  <cp:revision>11</cp:revision>
  <dcterms:created xsi:type="dcterms:W3CDTF">2025-07-23T00:59:00Z</dcterms:created>
  <dcterms:modified xsi:type="dcterms:W3CDTF">2025-10-24T08:18:00Z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62134A24BAD746E1B5B5911A3DB8413D_11</vt:lpwstr>
  </property>
  <property fmtid="{D5CDD505-2E9C-101B-9397-08002B2CF9AE}" pid="3" name="KSOProductBuildVer">
    <vt:lpwstr>2057-12.2.0.23149</vt:lpwstr>
  </property>
</Properties>
</file>