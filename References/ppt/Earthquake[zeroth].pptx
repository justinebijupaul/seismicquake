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59" r:id="rId6"/>
    <p:sldId id="260" r:id="rId8"/>
    <p:sldId id="261" r:id="rId9"/>
    <p:sldId id="262" r:id="rId10"/>
    <p:sldId id="265" r:id="rId11"/>
    <p:sldId id="267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857ED-B694-47C5-AC8F-DDE6AAA762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58E6-FFF3-47B8-A889-75013890F05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857ED-B694-47C5-AC8F-DDE6AAA762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58E6-FFF3-47B8-A889-75013890F05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857ED-B694-47C5-AC8F-DDE6AAA762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58E6-FFF3-47B8-A889-75013890F05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857ED-B694-47C5-AC8F-DDE6AAA762D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58E6-FFF3-47B8-A889-75013890F05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857ED-B694-47C5-AC8F-DDE6AAA762D6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58E6-FFF3-47B8-A889-75013890F05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857ED-B694-47C5-AC8F-DDE6AAA762D6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58E6-FFF3-47B8-A889-75013890F05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857ED-B694-47C5-AC8F-DDE6AAA762D6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58E6-FFF3-47B8-A889-75013890F05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857ED-B694-47C5-AC8F-DDE6AAA762D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58E6-FFF3-47B8-A889-75013890F05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857ED-B694-47C5-AC8F-DDE6AAA762D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58E6-FFF3-47B8-A889-75013890F05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857ED-B694-47C5-AC8F-DDE6AAA762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58E6-FFF3-47B8-A889-75013890F05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857ED-B694-47C5-AC8F-DDE6AAA762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58E6-FFF3-47B8-A889-75013890F05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857ED-B694-47C5-AC8F-DDE6AAA762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B58E6-FFF3-47B8-A889-75013890F05D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87375"/>
            <a:ext cx="9144000" cy="2705735"/>
          </a:xfrm>
        </p:spPr>
        <p:txBody>
          <a:bodyPr>
            <a:normAutofit/>
          </a:bodyPr>
          <a:lstStyle/>
          <a:p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ADVANCE </a:t>
            </a:r>
            <a:r>
              <a:rPr lang="en-US" sz="3200" b="1">
                <a:latin typeface="Times New Roman" panose="02020603050405020304"/>
                <a:cs typeface="Times New Roman" panose="02020603050405020304"/>
              </a:rPr>
              <a:t>EARTHQUAKE DETECTION, VISUALIZATION AND ANALYTICAL TOOLS USING MACHINE LEARNING AND CNN</a:t>
            </a:r>
            <a:endParaRPr lang="en-IN" sz="3200" b="1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3535"/>
            <a:ext cx="9144000" cy="2156460"/>
          </a:xfrm>
        </p:spPr>
        <p:txBody>
          <a:bodyPr>
            <a:normAutofit/>
          </a:bodyPr>
          <a:lstStyle/>
          <a:p>
            <a:pPr algn="l"/>
            <a:r>
              <a:rPr lang="en-US" sz="2000"/>
              <a:t>GUIDED BY:                                                                                PREPARED BY:</a:t>
            </a:r>
            <a:endParaRPr lang="en-US" sz="2000"/>
          </a:p>
          <a:p>
            <a:pPr algn="l"/>
            <a:r>
              <a:rPr lang="en-US" sz="2000"/>
              <a:t>PROF . JOSMY GEORGE                                                           JUSTINE BIJU PAUL</a:t>
            </a:r>
            <a:endParaRPr lang="en-US" sz="2000"/>
          </a:p>
          <a:p>
            <a:pPr algn="l"/>
            <a:r>
              <a:rPr lang="en-US" sz="2000"/>
              <a:t>DEPARTMENT OF COMPUTER SCIENCE AND                      BIJIN BINOY</a:t>
            </a:r>
            <a:endParaRPr lang="en-US" sz="2000"/>
          </a:p>
          <a:p>
            <a:pPr algn="l"/>
            <a:r>
              <a:rPr lang="en-US" sz="2000"/>
              <a:t>ENGINEERING                                                                           NISSA ANN SAJI </a:t>
            </a:r>
            <a:endParaRPr lang="en-US" sz="2000"/>
          </a:p>
          <a:p>
            <a:pPr algn="l"/>
            <a:r>
              <a:rPr lang="en-US" sz="2000"/>
              <a:t>                                                                                                     ALLAN SHIBU KOSHY</a:t>
            </a:r>
            <a:endParaRPr lang="en-US" sz="2000"/>
          </a:p>
          <a:p>
            <a:pPr algn="l"/>
            <a:endParaRPr 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INTRODUCTION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LITERATURE SURVEY 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PROBLEM STATEMENT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PROPOSED SOLUTION 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ADVANTAGE OF PROPOSED SYSTEM 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CONCLUSION 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IN" sz="2400">
                <a:latin typeface="Calibri" panose="020F0502020204030204" charset="0"/>
                <a:cs typeface="Calibri" panose="020F0502020204030204" charset="0"/>
              </a:rPr>
              <a:t>REFERENCES</a:t>
            </a:r>
            <a:endParaRPr lang="en-US" altLang="en-IN" sz="24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9875"/>
            <a:ext cx="10515600" cy="463708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buFont typeface="Arial" panose="020B0604020202020204"/>
              <a:buChar char="•"/>
            </a:pPr>
            <a:r>
              <a:rPr lang="en-US" sz="2700" b="1" dirty="0">
                <a:ea typeface="+mn-lt"/>
                <a:cs typeface="+mn-lt"/>
              </a:rPr>
              <a:t>Comprehensive Earthquake Analysis:</a:t>
            </a:r>
            <a:r>
              <a:rPr lang="en-US" sz="2700" dirty="0">
                <a:ea typeface="+mn-lt"/>
                <a:cs typeface="+mn-lt"/>
              </a:rPr>
              <a:t> A system that combines advanced signal processing, machine learning, and web technologies to identify and analyze seismic activity effectively.</a:t>
            </a:r>
            <a:endParaRPr lang="en-US" sz="2700" dirty="0">
              <a:ea typeface="+mn-lt"/>
              <a:cs typeface="+mn-lt"/>
            </a:endParaRPr>
          </a:p>
          <a:p>
            <a:pPr algn="just">
              <a:buFont typeface="Arial" panose="020B0604020202020204"/>
              <a:buChar char="•"/>
            </a:pPr>
            <a:r>
              <a:rPr lang="en-US" sz="2700" b="1" dirty="0">
                <a:ea typeface="+mn-lt"/>
                <a:cs typeface="+mn-lt"/>
              </a:rPr>
              <a:t>Accurate Event Prediction:</a:t>
            </a:r>
            <a:r>
              <a:rPr lang="en-US" sz="2700" dirty="0">
                <a:ea typeface="+mn-lt"/>
                <a:cs typeface="+mn-lt"/>
              </a:rPr>
              <a:t> Utilizes Mel Frequency Cepstral Coefficients (MFCCs) and logistic regression to deliver precise predictions based on seismic data in formats like </a:t>
            </a:r>
            <a:r>
              <a:rPr lang="en-US" sz="2700" dirty="0" err="1">
                <a:ea typeface="+mn-lt"/>
                <a:cs typeface="+mn-lt"/>
              </a:rPr>
              <a:t>MiniSEED</a:t>
            </a:r>
            <a:r>
              <a:rPr lang="en-US" sz="2700" dirty="0">
                <a:ea typeface="+mn-lt"/>
                <a:cs typeface="+mn-lt"/>
              </a:rPr>
              <a:t>, CSV, and XML.</a:t>
            </a:r>
            <a:endParaRPr lang="en-US" sz="2700" dirty="0">
              <a:ea typeface="+mn-lt"/>
              <a:cs typeface="+mn-lt"/>
            </a:endParaRPr>
          </a:p>
          <a:p>
            <a:pPr algn="just">
              <a:buFont typeface="Arial" panose="020B0604020202020204"/>
              <a:buChar char="•"/>
            </a:pPr>
            <a:r>
              <a:rPr lang="en-US" sz="2700" b="1" dirty="0">
                <a:ea typeface="+mn-lt"/>
                <a:cs typeface="+mn-lt"/>
              </a:rPr>
              <a:t>User-Friendly Web Interface:</a:t>
            </a:r>
            <a:r>
              <a:rPr lang="en-US" sz="2700" dirty="0">
                <a:ea typeface="+mn-lt"/>
                <a:cs typeface="+mn-lt"/>
              </a:rPr>
              <a:t> Incorporates a Flask-based platform for real-time file uploads, seismic event predictions, and interactive visualizations.</a:t>
            </a:r>
            <a:endParaRPr lang="en-US" sz="2700" dirty="0">
              <a:ea typeface="+mn-lt"/>
              <a:cs typeface="+mn-lt"/>
            </a:endParaRPr>
          </a:p>
          <a:p>
            <a:pPr algn="just">
              <a:buFont typeface="Arial" panose="020B0604020202020204"/>
              <a:buChar char="•"/>
            </a:pPr>
            <a:r>
              <a:rPr lang="en-US" sz="2700" b="1" dirty="0">
                <a:ea typeface="+mn-lt"/>
                <a:cs typeface="+mn-lt"/>
              </a:rPr>
              <a:t>Efficient and Scalable Solution:</a:t>
            </a:r>
            <a:r>
              <a:rPr lang="en-US" sz="2700" dirty="0">
                <a:ea typeface="+mn-lt"/>
                <a:cs typeface="+mn-lt"/>
              </a:rPr>
              <a:t> Designed to provide a reliable, accessible, and robust platform for earthquake monitoring and analysis.</a:t>
            </a:r>
            <a:endParaRPr lang="en-US" sz="2700" dirty="0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6253"/>
          </a:xfrm>
        </p:spPr>
        <p:txBody>
          <a:bodyPr>
            <a:normAutofit/>
          </a:bodyPr>
          <a:lstStyle/>
          <a:p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77440"/>
            <a:ext cx="10515600" cy="421513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buFont typeface="Arial" panose="020B0604020202020204"/>
              <a:buChar char="•"/>
            </a:pPr>
            <a:r>
              <a:rPr lang="en-US" altLang="en-GB" sz="2400" dirty="0">
                <a:ea typeface="+mn-lt"/>
                <a:cs typeface="+mn-lt"/>
              </a:rPr>
              <a:t>The paper proposes a deep learning system for rapid earthquake early warning using acoustic signals.</a:t>
            </a:r>
            <a:endParaRPr lang="en-US" altLang="en-GB" sz="2400" dirty="0">
              <a:ea typeface="+mn-lt"/>
              <a:cs typeface="+mn-lt"/>
            </a:endParaRPr>
          </a:p>
          <a:p>
            <a:pPr algn="just">
              <a:buFont typeface="Arial" panose="020B0604020202020204"/>
              <a:buChar char="•"/>
            </a:pPr>
            <a:r>
              <a:rPr lang="en-US" altLang="en-GB" sz="2400" dirty="0">
                <a:ea typeface="+mn-lt"/>
                <a:cs typeface="+mn-lt"/>
              </a:rPr>
              <a:t>It uses CNN and LSTM models on 1,000 Hz audio data to capture spectral and temporal earthquake features.</a:t>
            </a:r>
            <a:endParaRPr lang="en-US" altLang="en-GB" sz="2400" dirty="0">
              <a:ea typeface="+mn-lt"/>
              <a:cs typeface="+mn-lt"/>
            </a:endParaRPr>
          </a:p>
          <a:p>
            <a:pPr algn="just">
              <a:buFont typeface="Arial" panose="020B0604020202020204"/>
              <a:buChar char="•"/>
            </a:pPr>
            <a:r>
              <a:rPr lang="en-US" altLang="en-GB" sz="2400" dirty="0">
                <a:ea typeface="+mn-lt"/>
                <a:cs typeface="+mn-lt"/>
              </a:rPr>
              <a:t>The system achieves over 91% accuracy and detects earthquakes within 0.2 seconds, outperforming traditional methods.</a:t>
            </a:r>
            <a:endParaRPr lang="en-US" altLang="en-GB" sz="2400" dirty="0">
              <a:ea typeface="+mn-lt"/>
              <a:cs typeface="+mn-lt"/>
            </a:endParaRPr>
          </a:p>
          <a:p>
            <a:pPr algn="just">
              <a:buFont typeface="Arial" panose="020B0604020202020204"/>
              <a:buChar char="•"/>
            </a:pPr>
            <a:r>
              <a:rPr lang="en-US" altLang="en-GB" sz="2400" dirty="0">
                <a:ea typeface="+mn-lt"/>
                <a:cs typeface="+mn-lt"/>
              </a:rPr>
              <a:t>The novelty lies in combining deep learning with direct acoustic seismic data for fast, reliable detection.</a:t>
            </a:r>
            <a:endParaRPr lang="en-US" altLang="en-GB" sz="2400" dirty="0">
              <a:ea typeface="+mn-lt"/>
              <a:cs typeface="+mn-lt"/>
            </a:endParaRPr>
          </a:p>
          <a:p>
            <a:pPr algn="just">
              <a:buFont typeface="Arial" panose="020B0604020202020204"/>
              <a:buChar char="•"/>
            </a:pPr>
            <a:r>
              <a:rPr lang="en-US" altLang="en-GB" sz="2400" dirty="0">
                <a:ea typeface="+mn-lt"/>
                <a:cs typeface="+mn-lt"/>
              </a:rPr>
              <a:t>Future work includes multi-station deployment and integration with existing seismic networks for improved robustness.</a:t>
            </a:r>
            <a:endParaRPr lang="en-US" altLang="en-GB" sz="2400" dirty="0">
              <a:ea typeface="+mn-lt"/>
              <a:cs typeface="+mn-lt"/>
            </a:endParaRPr>
          </a:p>
        </p:txBody>
      </p:sp>
      <p:sp>
        <p:nvSpPr>
          <p:cNvPr id="5" name="Content Placeholder 2"/>
          <p:cNvSpPr txBox="1"/>
          <p:nvPr/>
        </p:nvSpPr>
        <p:spPr>
          <a:xfrm>
            <a:off x="841704" y="962025"/>
            <a:ext cx="10515600" cy="12595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b="1" dirty="0">
                <a:latin typeface="Times New Roman" panose="02020603050405020304"/>
                <a:cs typeface="Times New Roman" panose="02020603050405020304"/>
              </a:rPr>
              <a:t>Author</a:t>
            </a:r>
            <a:r>
              <a:rPr lang="en-US" sz="2000" b="1" dirty="0">
                <a:latin typeface="Times New Roman" panose="02020603050405020304"/>
                <a:ea typeface="+mn-lt"/>
                <a:cs typeface="+mn-lt"/>
              </a:rPr>
              <a:t>: </a:t>
            </a:r>
            <a:r>
              <a:rPr lang="en-US" altLang="en-GB" sz="2000">
                <a:latin typeface="Times New Roman" panose="02020603050405020304"/>
                <a:ea typeface="Calibri" panose="020F0502020204030204"/>
                <a:cs typeface="Calibri" panose="020F0502020204030204"/>
              </a:rPr>
              <a:t>Tonumoy Mukherjee,Chandrani Singh,Prabir Kumar Biswas</a:t>
            </a:r>
            <a:endParaRPr lang="en-US" altLang="en-GB" sz="200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/>
                <a:ea typeface="+mn-lt"/>
                <a:cs typeface="+mn-lt"/>
              </a:rPr>
              <a:t>Source</a:t>
            </a:r>
            <a:r>
              <a:rPr lang="en-US" sz="2000" dirty="0">
                <a:latin typeface="Times New Roman" panose="02020603050405020304"/>
                <a:ea typeface="+mn-lt"/>
                <a:cs typeface="+mn-lt"/>
              </a:rPr>
              <a:t>: A</a:t>
            </a:r>
            <a:r>
              <a:rPr lang="en-US" altLang="en-GB" sz="2000">
                <a:solidFill>
                  <a:srgbClr val="000000"/>
                </a:solidFill>
                <a:latin typeface="Times New Roman" panose="02020603050405020304"/>
                <a:ea typeface="+mn-lt"/>
                <a:cs typeface="Times New Roman" panose="02020603050405020304"/>
              </a:rPr>
              <a:t> NOVEL APPROACH FOR EARTHQUAKE EARLY WARNING SYSTEM DESIGN USING DEEP LEARNING TECHNIQUES.</a:t>
            </a:r>
            <a:endParaRPr lang="en-US" altLang="en-GB" sz="2000">
              <a:solidFill>
                <a:srgbClr val="000000"/>
              </a:solidFill>
              <a:latin typeface="Times New Roman" panose="02020603050405020304"/>
              <a:ea typeface="+mn-lt"/>
              <a:cs typeface="Times New Roman" panose="02020603050405020304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/>
              <a:ea typeface="+mn-lt"/>
              <a:cs typeface="+mn-lt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/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algn="just"/>
            <a:r>
              <a:rPr lang="en-US" altLang="en-GB" sz="2400" b="1" dirty="0">
                <a:latin typeface="Calibri" panose="020F0502020204030204" charset="0"/>
                <a:ea typeface="+mn-lt"/>
                <a:cs typeface="Calibri" panose="020F0502020204030204" charset="0"/>
              </a:rPr>
              <a:t>Real-time seismic detection challenge</a:t>
            </a:r>
            <a:r>
              <a:rPr lang="en-US" altLang="en-GB" sz="2400" dirty="0">
                <a:latin typeface="Calibri" panose="020F0502020204030204" charset="0"/>
                <a:ea typeface="+mn-lt"/>
                <a:cs typeface="Calibri" panose="020F0502020204030204" charset="0"/>
              </a:rPr>
              <a:t> – Difficulty in accurately detecting, analyzing, and visualizing seismic activity in real-time.</a:t>
            </a:r>
            <a:endParaRPr lang="en-US" altLang="en-GB" sz="2400" dirty="0">
              <a:latin typeface="Calibri" panose="020F0502020204030204" charset="0"/>
              <a:ea typeface="+mn-lt"/>
              <a:cs typeface="Calibri" panose="020F0502020204030204" charset="0"/>
            </a:endParaRPr>
          </a:p>
          <a:p>
            <a:pPr algn="just">
              <a:buNone/>
            </a:pPr>
            <a:endParaRPr lang="en-US" altLang="en-GB" sz="2400" dirty="0">
              <a:latin typeface="Calibri" panose="020F0502020204030204" charset="0"/>
              <a:ea typeface="+mn-lt"/>
              <a:cs typeface="Calibri" panose="020F0502020204030204" charset="0"/>
            </a:endParaRPr>
          </a:p>
          <a:p>
            <a:pPr algn="just"/>
            <a:r>
              <a:rPr lang="en-US" altLang="en-GB" sz="2400" b="1" dirty="0">
                <a:latin typeface="Calibri" panose="020F0502020204030204" charset="0"/>
                <a:ea typeface="+mn-lt"/>
                <a:cs typeface="Calibri" panose="020F0502020204030204" charset="0"/>
              </a:rPr>
              <a:t>Limitations of current systems</a:t>
            </a:r>
            <a:r>
              <a:rPr lang="en-US" altLang="en-GB" sz="2400" dirty="0">
                <a:latin typeface="Calibri" panose="020F0502020204030204" charset="0"/>
                <a:ea typeface="+mn-lt"/>
                <a:cs typeface="Calibri" panose="020F0502020204030204" charset="0"/>
              </a:rPr>
              <a:t> – Poor scalability, inability to handle diverse data formats, and weak real-time processing capabilities.</a:t>
            </a:r>
            <a:endParaRPr lang="en-US" altLang="en-GB" sz="2400" dirty="0">
              <a:latin typeface="Calibri" panose="020F0502020204030204" charset="0"/>
              <a:ea typeface="+mn-lt"/>
              <a:cs typeface="Calibri" panose="020F0502020204030204" charset="0"/>
            </a:endParaRPr>
          </a:p>
          <a:p>
            <a:pPr algn="just">
              <a:buNone/>
            </a:pPr>
            <a:endParaRPr lang="en-US" altLang="en-GB" sz="2400" dirty="0">
              <a:latin typeface="Calibri" panose="020F0502020204030204" charset="0"/>
              <a:ea typeface="+mn-lt"/>
              <a:cs typeface="Calibri" panose="020F0502020204030204" charset="0"/>
            </a:endParaRPr>
          </a:p>
          <a:p>
            <a:pPr algn="just"/>
            <a:r>
              <a:rPr lang="en-US" altLang="en-GB" sz="2400" b="1" dirty="0">
                <a:latin typeface="Calibri" panose="020F0502020204030204" charset="0"/>
                <a:ea typeface="+mn-lt"/>
                <a:cs typeface="Calibri" panose="020F0502020204030204" charset="0"/>
              </a:rPr>
              <a:t>Accessibility gap</a:t>
            </a:r>
            <a:r>
              <a:rPr lang="en-US" altLang="en-GB" sz="2400" dirty="0">
                <a:latin typeface="Calibri" panose="020F0502020204030204" charset="0"/>
                <a:ea typeface="+mn-lt"/>
                <a:cs typeface="Calibri" panose="020F0502020204030204" charset="0"/>
              </a:rPr>
              <a:t> – Lack of user-friendly platforms for seismic visualization and analysis, limiting use by researchers and decision-makers.</a:t>
            </a:r>
            <a:endParaRPr lang="en-US" altLang="en-GB" sz="2400" dirty="0">
              <a:latin typeface="Calibri" panose="020F0502020204030204" charset="0"/>
              <a:ea typeface="+mn-lt"/>
              <a:cs typeface="Calibri" panose="020F0502020204030204" charset="0"/>
            </a:endParaRPr>
          </a:p>
          <a:p>
            <a:pPr algn="just">
              <a:buNone/>
            </a:pPr>
            <a:endParaRPr lang="en-US" altLang="en-GB" sz="2400" dirty="0">
              <a:latin typeface="Calibri" panose="020F0502020204030204" charset="0"/>
              <a:ea typeface="+mn-lt"/>
              <a:cs typeface="Calibri" panose="020F0502020204030204" charset="0"/>
            </a:endParaRPr>
          </a:p>
          <a:p>
            <a:pPr algn="just"/>
            <a:r>
              <a:rPr lang="en-US" altLang="en-GB" sz="2400" b="1" dirty="0">
                <a:latin typeface="Calibri" panose="020F0502020204030204" charset="0"/>
                <a:ea typeface="+mn-lt"/>
                <a:cs typeface="Calibri" panose="020F0502020204030204" charset="0"/>
              </a:rPr>
              <a:t>Impact on effectiveness</a:t>
            </a:r>
            <a:r>
              <a:rPr lang="en-US" altLang="en-GB" sz="2400" dirty="0">
                <a:latin typeface="Calibri" panose="020F0502020204030204" charset="0"/>
                <a:ea typeface="+mn-lt"/>
                <a:cs typeface="Calibri" panose="020F0502020204030204" charset="0"/>
              </a:rPr>
              <a:t> – These limitations reduce the practicality and reliability of current seismic monitoring solutions</a:t>
            </a:r>
            <a:endParaRPr lang="en-US" altLang="en-GB" sz="2400" dirty="0">
              <a:latin typeface="Calibri" panose="020F0502020204030204" charset="0"/>
              <a:ea typeface="+mn-lt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7500"/>
            <a:ext cx="10515600" cy="4675188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just">
              <a:buFont typeface="Arial" panose="020B0604020202020204"/>
              <a:buChar char="•"/>
            </a:pPr>
            <a:r>
              <a:rPr lang="en-IN" sz="2400" b="1" dirty="0">
                <a:ea typeface="+mn-lt"/>
                <a:cs typeface="+mn-lt"/>
              </a:rPr>
              <a:t>Integrated System Design:</a:t>
            </a:r>
            <a:r>
              <a:rPr lang="en-IN" sz="2400" dirty="0">
                <a:ea typeface="+mn-lt"/>
                <a:cs typeface="+mn-lt"/>
              </a:rPr>
              <a:t> A robust and scalable system developed to address seismic activity detection and analysis, combining advanced signal processing, machine learning, and modern web technologies.</a:t>
            </a:r>
            <a:endParaRPr lang="en-US" sz="2400">
              <a:ea typeface="+mn-lt"/>
              <a:cs typeface="+mn-lt"/>
            </a:endParaRPr>
          </a:p>
          <a:p>
            <a:pPr algn="just">
              <a:buFont typeface="Arial" panose="020B0604020202020204"/>
              <a:buChar char="•"/>
            </a:pPr>
            <a:r>
              <a:rPr lang="en-IN" sz="2400" b="1" dirty="0">
                <a:ea typeface="+mn-lt"/>
                <a:cs typeface="+mn-lt"/>
              </a:rPr>
              <a:t>Feature Extraction and Data Processing:</a:t>
            </a:r>
            <a:r>
              <a:rPr lang="en-IN" sz="2400" dirty="0">
                <a:ea typeface="+mn-lt"/>
                <a:cs typeface="+mn-lt"/>
              </a:rPr>
              <a:t> Utilizes Mel Frequency Cepstral Coefficients (MFCC) for feature extraction and tools like </a:t>
            </a:r>
            <a:r>
              <a:rPr lang="en-IN" sz="2400" dirty="0" err="1">
                <a:ea typeface="+mn-lt"/>
                <a:cs typeface="+mn-lt"/>
              </a:rPr>
              <a:t>Librosa</a:t>
            </a:r>
            <a:r>
              <a:rPr lang="en-IN" sz="2400" dirty="0">
                <a:ea typeface="+mn-lt"/>
                <a:cs typeface="+mn-lt"/>
              </a:rPr>
              <a:t> and </a:t>
            </a:r>
            <a:r>
              <a:rPr lang="en-IN" sz="2400" dirty="0" err="1">
                <a:ea typeface="+mn-lt"/>
                <a:cs typeface="+mn-lt"/>
              </a:rPr>
              <a:t>ObsPy</a:t>
            </a:r>
            <a:r>
              <a:rPr lang="en-IN" sz="2400" dirty="0">
                <a:ea typeface="+mn-lt"/>
                <a:cs typeface="+mn-lt"/>
              </a:rPr>
              <a:t> for processing diverse seismic data formats (</a:t>
            </a:r>
            <a:r>
              <a:rPr lang="en-IN" sz="2400" dirty="0" err="1">
                <a:ea typeface="+mn-lt"/>
                <a:cs typeface="+mn-lt"/>
              </a:rPr>
              <a:t>MiniSEED</a:t>
            </a:r>
            <a:r>
              <a:rPr lang="en-IN" sz="2400" dirty="0">
                <a:ea typeface="+mn-lt"/>
                <a:cs typeface="+mn-lt"/>
              </a:rPr>
              <a:t>, CSV, XML).</a:t>
            </a:r>
            <a:endParaRPr lang="en-IN" sz="2400">
              <a:ea typeface="Calibri" panose="020F0502020204030204"/>
              <a:cs typeface="Calibri" panose="020F0502020204030204"/>
            </a:endParaRPr>
          </a:p>
          <a:p>
            <a:pPr algn="just">
              <a:buFont typeface="Arial" panose="020B0604020202020204"/>
              <a:buChar char="•"/>
            </a:pPr>
            <a:r>
              <a:rPr lang="en-IN" sz="2400" b="1" dirty="0">
                <a:ea typeface="+mn-lt"/>
                <a:cs typeface="+mn-lt"/>
              </a:rPr>
              <a:t>Machine Learning-Based Classification:</a:t>
            </a:r>
            <a:r>
              <a:rPr lang="en-US" altLang="en-GB" sz="2400" dirty="0">
                <a:ea typeface="+mn-lt"/>
                <a:cs typeface="+mn-lt"/>
              </a:rPr>
              <a:t>Implements machine learning with logistic regression, Random Forest Algorithms with CNN[Convalution Neural Network]/LSTM[Long-Short Term Memory] to classify seismic events by detecting primary, secondary, and surface waves, emphasizing interpretability and computational efficiency</a:t>
            </a:r>
            <a:endParaRPr lang="en-US" altLang="en-GB" sz="2400" dirty="0">
              <a:ea typeface="+mn-lt"/>
              <a:cs typeface="+mn-lt"/>
            </a:endParaRPr>
          </a:p>
          <a:p>
            <a:pPr algn="just">
              <a:buFont typeface="Arial" panose="020B0604020202020204"/>
              <a:buChar char="•"/>
            </a:pPr>
            <a:r>
              <a:rPr lang="en-IN" sz="2400" b="1" dirty="0">
                <a:ea typeface="+mn-lt"/>
                <a:cs typeface="+mn-lt"/>
              </a:rPr>
              <a:t>User-Friendly Web Interface:</a:t>
            </a:r>
            <a:r>
              <a:rPr lang="en-IN" sz="2400" dirty="0">
                <a:ea typeface="+mn-lt"/>
                <a:cs typeface="+mn-lt"/>
              </a:rPr>
              <a:t> Powered by Flask, enabling real-time file uploads, predictions, and interactive data visualization for seamless accessibility.</a:t>
            </a:r>
            <a:endParaRPr lang="en-IN" sz="2400" dirty="0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</a:t>
            </a:r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IN" b="1">
                <a:ea typeface="+mn-lt"/>
                <a:cs typeface="+mn-lt"/>
              </a:rPr>
              <a:t>Accurate Detection</a:t>
            </a:r>
            <a:r>
              <a:rPr lang="en-IN">
                <a:ea typeface="+mn-lt"/>
                <a:cs typeface="+mn-lt"/>
              </a:rPr>
              <a:t>: Utilizes MFCCs and machine learning for precise seismic event classification.</a:t>
            </a:r>
            <a:endParaRPr lang="en-IN">
              <a:cs typeface="+mn-lt"/>
            </a:endParaRPr>
          </a:p>
          <a:p>
            <a:r>
              <a:rPr lang="en-IN" b="1">
                <a:ea typeface="+mn-lt"/>
                <a:cs typeface="+mn-lt"/>
              </a:rPr>
              <a:t>Real-Time Processing</a:t>
            </a:r>
            <a:r>
              <a:rPr lang="en-IN">
                <a:ea typeface="+mn-lt"/>
                <a:cs typeface="+mn-lt"/>
              </a:rPr>
              <a:t>: Provides instant analysis through a user-friendly web interface.</a:t>
            </a:r>
            <a:endParaRPr lang="en-IN" sz="3200">
              <a:cs typeface="+mn-lt"/>
            </a:endParaRPr>
          </a:p>
          <a:p>
            <a:r>
              <a:rPr lang="en-IN" b="1">
                <a:ea typeface="+mn-lt"/>
                <a:cs typeface="+mn-lt"/>
              </a:rPr>
              <a:t>Format Flexibility</a:t>
            </a:r>
            <a:r>
              <a:rPr lang="en-IN">
                <a:ea typeface="+mn-lt"/>
                <a:cs typeface="+mn-lt"/>
              </a:rPr>
              <a:t>: Supports multiple data formats, including </a:t>
            </a:r>
            <a:r>
              <a:rPr lang="en-IN" err="1">
                <a:ea typeface="+mn-lt"/>
                <a:cs typeface="+mn-lt"/>
              </a:rPr>
              <a:t>MiniSEED</a:t>
            </a:r>
            <a:r>
              <a:rPr lang="en-IN">
                <a:ea typeface="+mn-lt"/>
                <a:cs typeface="+mn-lt"/>
              </a:rPr>
              <a:t>, CSV, and XML.</a:t>
            </a:r>
            <a:endParaRPr lang="en-IN" sz="3200">
              <a:cs typeface="+mn-lt"/>
            </a:endParaRPr>
          </a:p>
          <a:p>
            <a:r>
              <a:rPr lang="en-IN" b="1">
                <a:ea typeface="+mn-lt"/>
                <a:cs typeface="+mn-lt"/>
              </a:rPr>
              <a:t>Accessibility</a:t>
            </a:r>
            <a:r>
              <a:rPr lang="en-IN">
                <a:ea typeface="+mn-lt"/>
                <a:cs typeface="+mn-lt"/>
              </a:rPr>
              <a:t>: Simplifies seismic data analysis with visualizations and downloadable results.</a:t>
            </a:r>
            <a:endParaRPr lang="en-IN" sz="3200">
              <a:cs typeface="+mn-lt"/>
            </a:endParaRPr>
          </a:p>
          <a:p>
            <a:r>
              <a:rPr lang="en-IN" b="1">
                <a:ea typeface="+mn-lt"/>
                <a:cs typeface="+mn-lt"/>
              </a:rPr>
              <a:t>Robust Data Handling</a:t>
            </a:r>
            <a:r>
              <a:rPr lang="en-IN">
                <a:ea typeface="+mn-lt"/>
                <a:cs typeface="+mn-lt"/>
              </a:rPr>
              <a:t>: Ensures reliable storage and retrieval of seismic files.</a:t>
            </a:r>
            <a:endParaRPr lang="en-IN" sz="3200">
              <a:cs typeface="+mn-lt"/>
            </a:endParaRPr>
          </a:p>
          <a:p>
            <a:pPr marL="0" indent="0">
              <a:buNone/>
            </a:pPr>
            <a:endParaRPr lang="en-IN" sz="3200">
              <a:cs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r>
              <a:rPr lang="en-IN"/>
              <a:t> 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823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IN" sz="2400" b="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</a:t>
            </a:r>
            <a:r>
              <a:rPr lang="en-IN" sz="2400" b="1" dirty="0">
                <a:solidFill>
                  <a:srgbClr val="000000"/>
                </a:solidFill>
                <a:ea typeface="+mn-lt"/>
                <a:cs typeface="+mn-lt"/>
              </a:rPr>
              <a:t>.py:</a:t>
            </a:r>
            <a:r>
              <a:rPr lang="en-IN" sz="2400" dirty="0">
                <a:solidFill>
                  <a:srgbClr val="000000"/>
                </a:solidFill>
                <a:ea typeface="+mn-lt"/>
                <a:cs typeface="+mn-lt"/>
              </a:rPr>
              <a:t> The main Flask application file.</a:t>
            </a:r>
            <a:endParaRPr lang="en-US" sz="2400" b="1"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IN" sz="2400" b="1" dirty="0">
                <a:solidFill>
                  <a:srgbClr val="000000"/>
                </a:solidFill>
                <a:ea typeface="+mn-lt"/>
                <a:cs typeface="+mn-lt"/>
              </a:rPr>
              <a:t>train_model.py:</a:t>
            </a:r>
            <a:r>
              <a:rPr lang="en-IN" sz="2400" dirty="0">
                <a:solidFill>
                  <a:srgbClr val="000000"/>
                </a:solidFill>
                <a:ea typeface="+mn-lt"/>
                <a:cs typeface="+mn-lt"/>
              </a:rPr>
              <a:t> Script to train the earthquake detection model.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IN" sz="2400" b="1" dirty="0">
                <a:solidFill>
                  <a:srgbClr val="000000"/>
                </a:solidFill>
                <a:ea typeface="+mn-lt"/>
                <a:cs typeface="+mn-lt"/>
              </a:rPr>
              <a:t>upload.py:</a:t>
            </a:r>
            <a:r>
              <a:rPr lang="en-IN" sz="2400" dirty="0">
                <a:solidFill>
                  <a:srgbClr val="000000"/>
                </a:solidFill>
                <a:ea typeface="+mn-lt"/>
                <a:cs typeface="+mn-lt"/>
              </a:rPr>
              <a:t> HTML template for file upload and </a:t>
            </a:r>
            <a:r>
              <a:rPr lang="en-IN" sz="24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prediction</a:t>
            </a:r>
            <a:r>
              <a:rPr lang="en-IN" sz="2400" dirty="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en-IN" sz="2400" b="1"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IN" sz="2400" b="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uploads/:</a:t>
            </a:r>
            <a:r>
              <a:rPr lang="en-IN" sz="24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Directory to store uploaded </a:t>
            </a:r>
            <a:r>
              <a:rPr lang="en-IN" sz="2400" dirty="0">
                <a:solidFill>
                  <a:srgbClr val="000000"/>
                </a:solidFill>
                <a:ea typeface="+mn-lt"/>
                <a:cs typeface="+mn-lt"/>
              </a:rPr>
              <a:t>files temporarily.</a:t>
            </a:r>
            <a:endParaRPr lang="en-IN" sz="2400" dirty="0"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IN" sz="2400" b="1" err="1">
                <a:solidFill>
                  <a:srgbClr val="000000"/>
                </a:solidFill>
                <a:latin typeface="Calibri" panose="020F0502020204030204"/>
                <a:ea typeface="+mn-lt"/>
                <a:cs typeface="+mn-lt"/>
              </a:rPr>
              <a:t>earthquake_</a:t>
            </a:r>
            <a:r>
              <a:rPr lang="en-IN" sz="2400" b="1" err="1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model.joblib</a:t>
            </a:r>
            <a:r>
              <a:rPr lang="en-IN" sz="2400" b="1" dirty="0">
                <a:solidFill>
                  <a:srgbClr val="000000"/>
                </a:solidFill>
                <a:ea typeface="+mn-lt"/>
                <a:cs typeface="+mn-lt"/>
              </a:rPr>
              <a:t>:</a:t>
            </a:r>
            <a:r>
              <a:rPr lang="en-IN" sz="2400" dirty="0">
                <a:solidFill>
                  <a:srgbClr val="000000"/>
                </a:solidFill>
                <a:ea typeface="+mn-lt"/>
                <a:cs typeface="+mn-lt"/>
              </a:rPr>
              <a:t> Trained model file (generated</a:t>
            </a:r>
            <a:r>
              <a:rPr lang="en-IN" sz="2400" dirty="0">
                <a:ea typeface="Calibri" panose="020F0502020204030204"/>
                <a:cs typeface="Calibri" panose="020F0502020204030204"/>
              </a:rPr>
              <a:t> by train_model.py).</a:t>
            </a:r>
            <a:endParaRPr lang="en-IN" sz="2400" dirty="0"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IN" sz="2400" b="1" dirty="0" err="1">
                <a:ea typeface="Calibri" panose="020F0502020204030204"/>
                <a:cs typeface="Calibri" panose="020F0502020204030204"/>
              </a:rPr>
              <a:t>earthquake_</a:t>
            </a:r>
            <a:r>
              <a:rPr lang="en-IN" sz="2400" b="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scaler.joblib</a:t>
            </a:r>
            <a:r>
              <a:rPr lang="en-IN" sz="2400" b="1" dirty="0">
                <a:ea typeface="Calibri" panose="020F0502020204030204"/>
                <a:cs typeface="Calibri" panose="020F0502020204030204"/>
              </a:rPr>
              <a:t>:</a:t>
            </a:r>
            <a:r>
              <a:rPr lang="en-IN" sz="2400" dirty="0">
                <a:ea typeface="Calibri" panose="020F0502020204030204"/>
                <a:cs typeface="Calibri" panose="020F0502020204030204"/>
              </a:rPr>
              <a:t> Scaler</a:t>
            </a:r>
            <a:r>
              <a:rPr lang="en-IN" sz="2400" dirty="0">
                <a:solidFill>
                  <a:srgbClr val="000000"/>
                </a:solidFill>
                <a:ea typeface="+mn-lt"/>
                <a:cs typeface="+mn-lt"/>
              </a:rPr>
              <a:t> file (generated</a:t>
            </a:r>
            <a:r>
              <a:rPr lang="en-IN" sz="2400" dirty="0">
                <a:ea typeface="Calibri" panose="020F0502020204030204"/>
                <a:cs typeface="Calibri" panose="020F0502020204030204"/>
              </a:rPr>
              <a:t> by train_</a:t>
            </a:r>
            <a:r>
              <a:rPr lang="en-IN" sz="24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model.py).</a:t>
            </a:r>
            <a:endParaRPr lang="en-IN" sz="2400" dirty="0">
              <a:ea typeface="Calibri" panose="020F0502020204030204"/>
              <a:cs typeface="Calibri" panose="020F0502020204030204"/>
            </a:endParaRPr>
          </a:p>
          <a:p>
            <a:pPr marL="0" indent="0" algn="just">
              <a:buNone/>
            </a:pPr>
            <a:endParaRPr lang="en-IN" sz="2400" dirty="0"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>
              <a:buFont typeface="Arial" panose="020B0604020202020204"/>
              <a:buChar char="•"/>
            </a:pPr>
            <a:r>
              <a:rPr lang="en-US" sz="2400" b="1" dirty="0">
                <a:ea typeface="+mn-lt"/>
                <a:cs typeface="+mn-lt"/>
              </a:rPr>
              <a:t>Integrated Technology Solution:</a:t>
            </a:r>
            <a:r>
              <a:rPr lang="en-US" sz="2400" dirty="0">
                <a:ea typeface="+mn-lt"/>
                <a:cs typeface="+mn-lt"/>
              </a:rPr>
              <a:t> Combines machine learning, signal processing, and web-based interaction for efficient and scalable seismic activity detection.</a:t>
            </a:r>
            <a:endParaRPr lang="en-US" dirty="0">
              <a:ea typeface="+mn-lt"/>
              <a:cs typeface="+mn-lt"/>
            </a:endParaRPr>
          </a:p>
          <a:p>
            <a:pPr algn="just">
              <a:buFont typeface="Arial" panose="020B0604020202020204"/>
              <a:buChar char="•"/>
            </a:pPr>
            <a:r>
              <a:rPr lang="en-US" sz="2400" b="1">
                <a:ea typeface="+mn-lt"/>
                <a:cs typeface="+mn-lt"/>
              </a:rPr>
              <a:t>Seamless Data Processing:</a:t>
            </a:r>
            <a:r>
              <a:rPr lang="en-US" sz="2400">
                <a:ea typeface="+mn-lt"/>
                <a:cs typeface="+mn-lt"/>
              </a:rPr>
              <a:t> Utilizes </a:t>
            </a:r>
            <a:r>
              <a:rPr lang="en-US" sz="2400" err="1">
                <a:ea typeface="+mn-lt"/>
                <a:cs typeface="+mn-lt"/>
              </a:rPr>
              <a:t>ObsPy</a:t>
            </a:r>
            <a:r>
              <a:rPr lang="en-US" sz="2400">
                <a:ea typeface="+mn-lt"/>
                <a:cs typeface="+mn-lt"/>
              </a:rPr>
              <a:t> and </a:t>
            </a:r>
            <a:r>
              <a:rPr lang="en-US" sz="2400" err="1">
                <a:ea typeface="+mn-lt"/>
                <a:cs typeface="+mn-lt"/>
              </a:rPr>
              <a:t>Librosa</a:t>
            </a:r>
            <a:r>
              <a:rPr lang="en-US" sz="2400">
                <a:ea typeface="+mn-lt"/>
                <a:cs typeface="+mn-lt"/>
              </a:rPr>
              <a:t> to analyze seismic data from diverse formats, ensuring flexibility and robustness.</a:t>
            </a:r>
            <a:endParaRPr lang="en-US"/>
          </a:p>
          <a:p>
            <a:pPr algn="just">
              <a:buFont typeface="Arial" panose="020B0604020202020204"/>
              <a:buChar char="•"/>
            </a:pPr>
            <a:r>
              <a:rPr lang="en-US" sz="2400" b="1" dirty="0">
                <a:ea typeface="+mn-lt"/>
                <a:cs typeface="+mn-lt"/>
              </a:rPr>
              <a:t>Web-Based Accessibility:</a:t>
            </a:r>
            <a:r>
              <a:rPr lang="en-US" sz="2400" dirty="0">
                <a:ea typeface="+mn-lt"/>
                <a:cs typeface="+mn-lt"/>
              </a:rPr>
              <a:t> Employs Flask to create a user-friendly interface for real-time detection, analysis, and interaction.</a:t>
            </a:r>
            <a:endParaRPr lang="en-US" dirty="0"/>
          </a:p>
          <a:p>
            <a:pPr algn="just">
              <a:buFont typeface="Arial" panose="020B0604020202020204"/>
              <a:buChar char="•"/>
            </a:pPr>
            <a:r>
              <a:rPr lang="en-US" sz="2400" b="1" dirty="0">
                <a:ea typeface="+mn-lt"/>
                <a:cs typeface="+mn-lt"/>
              </a:rPr>
              <a:t>Versatile Export Options:</a:t>
            </a:r>
            <a:r>
              <a:rPr lang="en-US" sz="2400" dirty="0">
                <a:ea typeface="+mn-lt"/>
                <a:cs typeface="+mn-lt"/>
              </a:rPr>
              <a:t> Supports multiple data export formats, enhancing its utility as a comprehensive tool for seismic monitoring.</a:t>
            </a:r>
            <a:endParaRPr lang="en-US" dirty="0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1370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GB" sz="2200"/>
              <a:t>[1] Thomas C Hanks and Hiroo Kanamori. A moment magnitude scale. Journal of Geophysical Research: Solid Earth, 84(B5):2348–2350, 1979.</a:t>
            </a:r>
            <a:endParaRPr lang="en-US" altLang="en-GB" sz="2200"/>
          </a:p>
          <a:p>
            <a:pPr marL="0" indent="0">
              <a:buNone/>
            </a:pPr>
            <a:endParaRPr lang="en-US" altLang="en-GB" sz="2200"/>
          </a:p>
          <a:p>
            <a:pPr marL="0" indent="0">
              <a:buNone/>
            </a:pPr>
            <a:r>
              <a:rPr lang="en-US" altLang="en-GB" sz="2200"/>
              <a:t>[2] Hiroo Kanamori. Quantification of earthquakes. Nature, 271(5644):411–414, 1978.</a:t>
            </a:r>
            <a:endParaRPr lang="en-US" altLang="en-GB" sz="2200"/>
          </a:p>
          <a:p>
            <a:pPr marL="0" indent="0">
              <a:buNone/>
            </a:pPr>
            <a:endParaRPr lang="en-US" altLang="en-GB" sz="2200"/>
          </a:p>
          <a:p>
            <a:pPr marL="0" indent="0">
              <a:buNone/>
            </a:pPr>
            <a:r>
              <a:rPr lang="en-US" altLang="en-GB" sz="2200"/>
              <a:t>[3] Anshu Jin and Keiiti Aki. Temporal change in coda q before the tangshan earthquake of 1976 and the haicheng earthquake of 1975. Journal of Geophysical Research: Solid Earth, 91(B1):665–673, 1986.</a:t>
            </a:r>
            <a:endParaRPr lang="en-US" altLang="en-GB" sz="2200"/>
          </a:p>
          <a:p>
            <a:pPr marL="0" indent="0">
              <a:buNone/>
            </a:pPr>
            <a:endParaRPr lang="en-US" altLang="en-GB" sz="2200"/>
          </a:p>
          <a:p>
            <a:pPr marL="0" indent="0">
              <a:buNone/>
            </a:pPr>
            <a:r>
              <a:rPr lang="en-US" altLang="en-GB" sz="2200"/>
              <a:t>[4] K Vikraman. A deep neural network to identify foreshocks in real time. arXiv preprint arXiv:1611.08655, 2016.</a:t>
            </a:r>
            <a:endParaRPr lang="en-US" altLang="en-GB" sz="2200"/>
          </a:p>
          <a:p>
            <a:pPr marL="0" indent="0">
              <a:buNone/>
            </a:pPr>
            <a:endParaRPr lang="en-US" altLang="en-GB" sz="2200"/>
          </a:p>
          <a:p>
            <a:pPr marL="0" indent="0">
              <a:buNone/>
            </a:pPr>
            <a:r>
              <a:rPr lang="en-US" altLang="en-GB" sz="2200"/>
              <a:t>[5] Thibaut Perol, Micha</a:t>
            </a:r>
            <a:r>
              <a:rPr lang="en-US" altLang="en-US" sz="2200"/>
              <a:t>ë</a:t>
            </a:r>
            <a:r>
              <a:rPr lang="en-US" altLang="en-GB" sz="2200"/>
              <a:t>l Gharbi, and Marine Denolle. Convolutional neural network for earthquake detection and location. Science Advances, 4(2):e1700578, 2018.</a:t>
            </a:r>
            <a:endParaRPr lang="en-US" altLang="en-GB"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7140" y="2900045"/>
            <a:ext cx="4743450" cy="192849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GB" sz="7200" b="1"/>
              <a:t>THANK YOU</a:t>
            </a:r>
            <a:endParaRPr lang="en-US" altLang="en-GB" sz="72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5655</Words>
  <Application>WPS Presentation</Application>
  <PresentationFormat>Widescreen</PresentationFormat>
  <Paragraphs>96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Times New Roman</vt:lpstr>
      <vt:lpstr>Times New Roman</vt:lpstr>
      <vt:lpstr>Arial</vt:lpstr>
      <vt:lpstr>Calibri</vt:lpstr>
      <vt:lpstr>Microsoft YaHei</vt:lpstr>
      <vt:lpstr>Arial Unicode MS</vt:lpstr>
      <vt:lpstr>Calibri Light</vt:lpstr>
      <vt:lpstr>Calibri</vt:lpstr>
      <vt:lpstr>Segoe Print</vt:lpstr>
      <vt:lpstr>Office Theme</vt:lpstr>
      <vt:lpstr> ADVANCE EARTHQUAKE DETECTION, VISUALIZATION AND ANALYTICAL TOOLS USING MACHINE LEARNING AND CNN</vt:lpstr>
      <vt:lpstr>CONTENTS</vt:lpstr>
      <vt:lpstr>INTRODUCTION</vt:lpstr>
      <vt:lpstr>LITERATURE SURVEY</vt:lpstr>
      <vt:lpstr>PROBLEM STATEMENT</vt:lpstr>
      <vt:lpstr>PROPOSED SOLUTION</vt:lpstr>
      <vt:lpstr>ADVANTAGES OF PROPOSED SYSTEM</vt:lpstr>
      <vt:lpstr>MODULES </vt:lpstr>
      <vt:lpstr>CONCLUSION</vt:lpstr>
      <vt:lpstr>REFERENCES</vt:lpstr>
      <vt:lpstr>PowerPoint 演示文稿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CSD 334-MINI PROJECT  EARTHQUAKE DETECTION FROM SOUNDS USING MACHINE LEARNING</dc:title>
  <dc:creator>Microsoft account</dc:creator>
  <cp:lastModifiedBy>Allan shibu</cp:lastModifiedBy>
  <cp:revision>217</cp:revision>
  <dcterms:created xsi:type="dcterms:W3CDTF">2025-01-21T16:34:00Z</dcterms:created>
  <dcterms:modified xsi:type="dcterms:W3CDTF">2025-08-13T14:35:38Z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AB122FD5D72747E4913D4C55B310BF22_13</vt:lpwstr>
  </property>
  <property fmtid="{D5CDD505-2E9C-101B-9397-08002B2CF9AE}" pid="3" name="KSOProductBuildVer">
    <vt:lpwstr>2057-12.2.0.21936</vt:lpwstr>
  </property>
</Properties>
</file>